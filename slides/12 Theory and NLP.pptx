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256" r:id="rId3"/>
    <p:sldId id="260" r:id="rId4"/>
    <p:sldId id="259" r:id="rId5"/>
    <p:sldId id="258" r:id="rId6"/>
    <p:sldId id="261" r:id="rId7"/>
    <p:sldId id="262" r:id="rId8"/>
    <p:sldId id="263" r:id="rId9"/>
    <p:sldId id="265" r:id="rId10"/>
    <p:sldId id="264"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694"/>
  </p:normalViewPr>
  <p:slideViewPr>
    <p:cSldViewPr snapToGrid="0">
      <p:cViewPr varScale="1">
        <p:scale>
          <a:sx n="121" d="100"/>
          <a:sy n="121" d="100"/>
        </p:scale>
        <p:origin x="7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lejo Vera, Sebastian" userId="9dbf769e-f5f7-4c1a-b214-de73a2d2b9d1" providerId="ADAL" clId="{596F8376-81B8-484E-9F18-97B6E4ACC91A}"/>
    <pc:docChg chg="custSel modSld">
      <pc:chgData name="Vallejo Vera, Sebastian" userId="9dbf769e-f5f7-4c1a-b214-de73a2d2b9d1" providerId="ADAL" clId="{596F8376-81B8-484E-9F18-97B6E4ACC91A}" dt="2024-03-18T12:55:41.542" v="25" actId="5793"/>
      <pc:docMkLst>
        <pc:docMk/>
      </pc:docMkLst>
      <pc:sldChg chg="modSp mod">
        <pc:chgData name="Vallejo Vera, Sebastian" userId="9dbf769e-f5f7-4c1a-b214-de73a2d2b9d1" providerId="ADAL" clId="{596F8376-81B8-484E-9F18-97B6E4ACC91A}" dt="2024-03-18T12:54:21.023" v="1" actId="207"/>
        <pc:sldMkLst>
          <pc:docMk/>
          <pc:sldMk cId="2021579791" sldId="258"/>
        </pc:sldMkLst>
        <pc:spChg chg="mod">
          <ac:chgData name="Vallejo Vera, Sebastian" userId="9dbf769e-f5f7-4c1a-b214-de73a2d2b9d1" providerId="ADAL" clId="{596F8376-81B8-484E-9F18-97B6E4ACC91A}" dt="2024-03-18T12:54:21.023" v="1" actId="207"/>
          <ac:spMkLst>
            <pc:docMk/>
            <pc:sldMk cId="2021579791" sldId="258"/>
            <ac:spMk id="3" creationId="{3D0D40A0-0F16-6DDC-B83A-4EA8B6E5D535}"/>
          </ac:spMkLst>
        </pc:spChg>
      </pc:sldChg>
      <pc:sldChg chg="modSp mod">
        <pc:chgData name="Vallejo Vera, Sebastian" userId="9dbf769e-f5f7-4c1a-b214-de73a2d2b9d1" providerId="ADAL" clId="{596F8376-81B8-484E-9F18-97B6E4ACC91A}" dt="2024-03-18T12:54:29.151" v="7" actId="20577"/>
        <pc:sldMkLst>
          <pc:docMk/>
          <pc:sldMk cId="1145063374" sldId="261"/>
        </pc:sldMkLst>
        <pc:spChg chg="mod">
          <ac:chgData name="Vallejo Vera, Sebastian" userId="9dbf769e-f5f7-4c1a-b214-de73a2d2b9d1" providerId="ADAL" clId="{596F8376-81B8-484E-9F18-97B6E4ACC91A}" dt="2024-03-18T12:54:29.151" v="7" actId="20577"/>
          <ac:spMkLst>
            <pc:docMk/>
            <pc:sldMk cId="1145063374" sldId="261"/>
            <ac:spMk id="4" creationId="{50016238-59A6-5A14-7598-2663F07B4883}"/>
          </ac:spMkLst>
        </pc:spChg>
      </pc:sldChg>
      <pc:sldChg chg="modSp mod">
        <pc:chgData name="Vallejo Vera, Sebastian" userId="9dbf769e-f5f7-4c1a-b214-de73a2d2b9d1" providerId="ADAL" clId="{596F8376-81B8-484E-9F18-97B6E4ACC91A}" dt="2024-03-18T12:54:58.856" v="13" actId="20577"/>
        <pc:sldMkLst>
          <pc:docMk/>
          <pc:sldMk cId="1470483818" sldId="263"/>
        </pc:sldMkLst>
        <pc:spChg chg="mod">
          <ac:chgData name="Vallejo Vera, Sebastian" userId="9dbf769e-f5f7-4c1a-b214-de73a2d2b9d1" providerId="ADAL" clId="{596F8376-81B8-484E-9F18-97B6E4ACC91A}" dt="2024-03-18T12:54:58.856" v="13" actId="20577"/>
          <ac:spMkLst>
            <pc:docMk/>
            <pc:sldMk cId="1470483818" sldId="263"/>
            <ac:spMk id="3" creationId="{ED3745A9-E1E9-A763-68B7-97B79EC1EDDB}"/>
          </ac:spMkLst>
        </pc:spChg>
      </pc:sldChg>
      <pc:sldChg chg="modSp mod">
        <pc:chgData name="Vallejo Vera, Sebastian" userId="9dbf769e-f5f7-4c1a-b214-de73a2d2b9d1" providerId="ADAL" clId="{596F8376-81B8-484E-9F18-97B6E4ACC91A}" dt="2024-03-18T12:55:41.542" v="25" actId="5793"/>
        <pc:sldMkLst>
          <pc:docMk/>
          <pc:sldMk cId="4173095322" sldId="267"/>
        </pc:sldMkLst>
        <pc:spChg chg="mod">
          <ac:chgData name="Vallejo Vera, Sebastian" userId="9dbf769e-f5f7-4c1a-b214-de73a2d2b9d1" providerId="ADAL" clId="{596F8376-81B8-484E-9F18-97B6E4ACC91A}" dt="2024-03-18T12:55:41.542" v="25" actId="5793"/>
          <ac:spMkLst>
            <pc:docMk/>
            <pc:sldMk cId="4173095322" sldId="267"/>
            <ac:spMk id="3" creationId="{2C31014C-5F1B-7DDD-0893-A8B142A52C4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08CCAE63-088C-414E-990A-B9C34FEFDC95}" type="datetimeFigureOut">
              <a:rPr lang="en-US" smtClean="0"/>
              <a:t>3/18/24</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8B46791-7AEE-2744-90B1-507E86FD033A}"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16611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CCAE63-088C-414E-990A-B9C34FEFDC95}" type="datetimeFigureOut">
              <a:rPr lang="en-US" smtClean="0"/>
              <a:t>3/18/24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B46791-7AEE-2744-90B1-507E86FD033A}" type="slidenum">
              <a:rPr lang="en-US" smtClean="0"/>
              <a:t>‹#›</a:t>
            </a:fld>
            <a:endParaRPr lang="en-US"/>
          </a:p>
        </p:txBody>
      </p:sp>
    </p:spTree>
    <p:extLst>
      <p:ext uri="{BB962C8B-B14F-4D97-AF65-F5344CB8AC3E}">
        <p14:creationId xmlns:p14="http://schemas.microsoft.com/office/powerpoint/2010/main" val="1449303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08CCAE63-088C-414E-990A-B9C34FEFDC95}" type="datetimeFigureOut">
              <a:rPr lang="en-US" smtClean="0"/>
              <a:t>3/18/24</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8B46791-7AEE-2744-90B1-507E86FD033A}"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72966787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CCAE63-088C-414E-990A-B9C34FEFDC95}" type="datetimeFigureOut">
              <a:rPr lang="en-US" smtClean="0"/>
              <a:t>3/18/24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B46791-7AEE-2744-90B1-507E86FD033A}" type="slidenum">
              <a:rPr lang="en-US" smtClean="0"/>
              <a:t>‹#›</a:t>
            </a:fld>
            <a:endParaRPr lang="en-US"/>
          </a:p>
        </p:txBody>
      </p:sp>
    </p:spTree>
    <p:extLst>
      <p:ext uri="{BB962C8B-B14F-4D97-AF65-F5344CB8AC3E}">
        <p14:creationId xmlns:p14="http://schemas.microsoft.com/office/powerpoint/2010/main" val="213056474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8CCAE63-088C-414E-990A-B9C34FEFDC95}" type="datetimeFigureOut">
              <a:rPr lang="en-US" smtClean="0"/>
              <a:t>3/18/24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B46791-7AEE-2744-90B1-507E86FD033A}" type="slidenum">
              <a:rPr lang="en-US" smtClean="0"/>
              <a:t>‹#›</a:t>
            </a:fld>
            <a:endParaRPr lang="en-US"/>
          </a:p>
        </p:txBody>
      </p:sp>
    </p:spTree>
    <p:extLst>
      <p:ext uri="{BB962C8B-B14F-4D97-AF65-F5344CB8AC3E}">
        <p14:creationId xmlns:p14="http://schemas.microsoft.com/office/powerpoint/2010/main" val="254817453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8CCAE63-088C-414E-990A-B9C34FEFDC95}" type="datetimeFigureOut">
              <a:rPr lang="en-US" smtClean="0"/>
              <a:t>3/18/24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B46791-7AEE-2744-90B1-507E86FD033A}" type="slidenum">
              <a:rPr lang="en-US" smtClean="0"/>
              <a:t>‹#›</a:t>
            </a:fld>
            <a:endParaRPr lang="en-US"/>
          </a:p>
        </p:txBody>
      </p:sp>
    </p:spTree>
    <p:extLst>
      <p:ext uri="{BB962C8B-B14F-4D97-AF65-F5344CB8AC3E}">
        <p14:creationId xmlns:p14="http://schemas.microsoft.com/office/powerpoint/2010/main" val="2534939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CCAE63-088C-414E-990A-B9C34FEFDC95}" type="datetimeFigureOut">
              <a:rPr lang="en-US" smtClean="0"/>
              <a:t>3/18/24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B46791-7AEE-2744-90B1-507E86FD033A}" type="slidenum">
              <a:rPr lang="en-US" smtClean="0"/>
              <a:t>‹#›</a:t>
            </a:fld>
            <a:endParaRPr lang="en-US"/>
          </a:p>
        </p:txBody>
      </p:sp>
    </p:spTree>
    <p:extLst>
      <p:ext uri="{BB962C8B-B14F-4D97-AF65-F5344CB8AC3E}">
        <p14:creationId xmlns:p14="http://schemas.microsoft.com/office/powerpoint/2010/main" val="3036629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08CCAE63-088C-414E-990A-B9C34FEFDC95}" type="datetimeFigureOut">
              <a:rPr lang="en-US" smtClean="0"/>
              <a:t>3/18/24</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78B46791-7AEE-2744-90B1-507E86FD033A}"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41021286"/>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08CCAE63-088C-414E-990A-B9C34FEFDC95}" type="datetimeFigureOut">
              <a:rPr lang="en-US" smtClean="0"/>
              <a:t>3/18/24</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78B46791-7AEE-2744-90B1-507E86FD033A}" type="slidenum">
              <a:rPr lang="en-US" smtClean="0"/>
              <a:t>‹#›</a:t>
            </a:fld>
            <a:endParaRPr lang="en-US"/>
          </a:p>
        </p:txBody>
      </p:sp>
    </p:spTree>
    <p:extLst>
      <p:ext uri="{BB962C8B-B14F-4D97-AF65-F5344CB8AC3E}">
        <p14:creationId xmlns:p14="http://schemas.microsoft.com/office/powerpoint/2010/main" val="4252507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CCAE63-088C-414E-990A-B9C34FEFDC95}" type="datetimeFigureOut">
              <a:rPr lang="en-US" smtClean="0"/>
              <a:t>3/18/24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B46791-7AEE-2744-90B1-507E86FD033A}" type="slidenum">
              <a:rPr lang="en-US" smtClean="0"/>
              <a:t>‹#›</a:t>
            </a:fld>
            <a:endParaRPr lang="en-US"/>
          </a:p>
        </p:txBody>
      </p:sp>
    </p:spTree>
    <p:extLst>
      <p:ext uri="{BB962C8B-B14F-4D97-AF65-F5344CB8AC3E}">
        <p14:creationId xmlns:p14="http://schemas.microsoft.com/office/powerpoint/2010/main" val="55765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CCAE63-088C-414E-990A-B9C34FEFDC95}" type="datetimeFigureOut">
              <a:rPr lang="en-US" smtClean="0"/>
              <a:t>3/18/24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B46791-7AEE-2744-90B1-507E86FD033A}" type="slidenum">
              <a:rPr lang="en-US" smtClean="0"/>
              <a:t>‹#›</a:t>
            </a:fld>
            <a:endParaRPr lang="en-US"/>
          </a:p>
        </p:txBody>
      </p:sp>
    </p:spTree>
    <p:extLst>
      <p:ext uri="{BB962C8B-B14F-4D97-AF65-F5344CB8AC3E}">
        <p14:creationId xmlns:p14="http://schemas.microsoft.com/office/powerpoint/2010/main" val="1119120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08CCAE63-088C-414E-990A-B9C34FEFDC95}" type="datetimeFigureOut">
              <a:rPr lang="en-US" smtClean="0"/>
              <a:t>3/18/24</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8B46791-7AEE-2744-90B1-507E86FD033A}"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135582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7C22E-724A-644C-F792-312AF87E1F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7DFDBB-122B-A57C-DEEE-0DA98F0E3A56}"/>
              </a:ext>
            </a:extLst>
          </p:cNvPr>
          <p:cNvSpPr>
            <a:spLocks noGrp="1"/>
          </p:cNvSpPr>
          <p:nvPr>
            <p:ph idx="1"/>
          </p:nvPr>
        </p:nvSpPr>
        <p:spPr/>
        <p:txBody>
          <a:bodyPr/>
          <a:lstStyle/>
          <a:p>
            <a:r>
              <a:rPr lang="en-US" dirty="0"/>
              <a:t>Throughout this course, we have covered techniques that take advantage of text-as-data. </a:t>
            </a:r>
          </a:p>
          <a:p>
            <a:r>
              <a:rPr lang="en-US" dirty="0"/>
              <a:t>You now have a toolbox full of new </a:t>
            </a:r>
            <a:r>
              <a:rPr lang="en-US" dirty="0">
                <a:solidFill>
                  <a:srgbClr val="00FA00"/>
                </a:solidFill>
              </a:rPr>
              <a:t>shiny</a:t>
            </a:r>
            <a:r>
              <a:rPr lang="en-US" dirty="0"/>
              <a:t> tools, the state-of-the-art. </a:t>
            </a:r>
          </a:p>
          <a:p>
            <a:endParaRPr lang="en-US" dirty="0"/>
          </a:p>
          <a:p>
            <a:r>
              <a:rPr lang="en-US" dirty="0"/>
              <a:t>Most of these tools are computationally intensive and require more coding and data wrangling than social science. </a:t>
            </a:r>
          </a:p>
          <a:p>
            <a:endParaRPr lang="en-US" dirty="0"/>
          </a:p>
          <a:p>
            <a:r>
              <a:rPr lang="en-US" dirty="0"/>
              <a:t>You might ask yourself… </a:t>
            </a:r>
          </a:p>
        </p:txBody>
      </p:sp>
    </p:spTree>
    <p:extLst>
      <p:ext uri="{BB962C8B-B14F-4D97-AF65-F5344CB8AC3E}">
        <p14:creationId xmlns:p14="http://schemas.microsoft.com/office/powerpoint/2010/main" val="607053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9CE36-F606-E4D7-EB46-B2F3007B786C}"/>
              </a:ext>
            </a:extLst>
          </p:cNvPr>
          <p:cNvSpPr>
            <a:spLocks noGrp="1"/>
          </p:cNvSpPr>
          <p:nvPr>
            <p:ph type="ctrTitle"/>
          </p:nvPr>
        </p:nvSpPr>
        <p:spPr/>
        <p:txBody>
          <a:bodyPr/>
          <a:lstStyle/>
          <a:p>
            <a:r>
              <a:rPr lang="en-US" dirty="0"/>
              <a:t>Do we even need theory?</a:t>
            </a:r>
          </a:p>
        </p:txBody>
      </p:sp>
      <p:sp>
        <p:nvSpPr>
          <p:cNvPr id="3" name="Subtitle 2">
            <a:extLst>
              <a:ext uri="{FF2B5EF4-FFF2-40B4-BE49-F238E27FC236}">
                <a16:creationId xmlns:a16="http://schemas.microsoft.com/office/drawing/2014/main" id="{C81B0A4F-AC65-ED45-9374-86B1FC3E07AD}"/>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588967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4436E-C201-DED1-FB87-7B3186EC95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88C9E2-80EA-84A3-2767-5E2772131895}"/>
              </a:ext>
            </a:extLst>
          </p:cNvPr>
          <p:cNvSpPr>
            <a:spLocks noGrp="1"/>
          </p:cNvSpPr>
          <p:nvPr>
            <p:ph idx="1"/>
          </p:nvPr>
        </p:nvSpPr>
        <p:spPr/>
        <p:txBody>
          <a:bodyPr/>
          <a:lstStyle/>
          <a:p>
            <a:endParaRPr lang="en-US" dirty="0"/>
          </a:p>
          <a:p>
            <a:endParaRPr lang="en-US" dirty="0"/>
          </a:p>
          <a:p>
            <a:r>
              <a:rPr lang="en-US" dirty="0"/>
              <a:t>The short answer is… </a:t>
            </a:r>
          </a:p>
        </p:txBody>
      </p:sp>
    </p:spTree>
    <p:extLst>
      <p:ext uri="{BB962C8B-B14F-4D97-AF65-F5344CB8AC3E}">
        <p14:creationId xmlns:p14="http://schemas.microsoft.com/office/powerpoint/2010/main" val="2356271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7520F84D-966A-41CD-B818-16BF32EF1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12" name="Rectangle 11">
            <a:extLst>
              <a:ext uri="{FF2B5EF4-FFF2-40B4-BE49-F238E27FC236}">
                <a16:creationId xmlns:a16="http://schemas.microsoft.com/office/drawing/2014/main" id="{57510D23-E323-4577-A8EA-12C6C6019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15384613-A493-4A01-873E-5BD3769D1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E23D80C-E8BE-8DEF-F8FE-0BDD3B252555}"/>
              </a:ext>
            </a:extLst>
          </p:cNvPr>
          <p:cNvSpPr>
            <a:spLocks noGrp="1"/>
          </p:cNvSpPr>
          <p:nvPr>
            <p:ph type="title"/>
          </p:nvPr>
        </p:nvSpPr>
        <p:spPr>
          <a:xfrm>
            <a:off x="804333" y="643467"/>
            <a:ext cx="7558609" cy="4849909"/>
          </a:xfrm>
        </p:spPr>
        <p:txBody>
          <a:bodyPr vert="horz" lIns="91440" tIns="45720" rIns="91440" bIns="45720" rtlCol="0" anchor="b">
            <a:normAutofit/>
          </a:bodyPr>
          <a:lstStyle/>
          <a:p>
            <a:r>
              <a:rPr lang="en-US" sz="8800"/>
              <a:t>YES</a:t>
            </a:r>
          </a:p>
        </p:txBody>
      </p:sp>
      <p:sp>
        <p:nvSpPr>
          <p:cNvPr id="5" name="Text Placeholder 4">
            <a:extLst>
              <a:ext uri="{FF2B5EF4-FFF2-40B4-BE49-F238E27FC236}">
                <a16:creationId xmlns:a16="http://schemas.microsoft.com/office/drawing/2014/main" id="{2943D9AC-02D2-5796-91FD-1AF1014E24D3}"/>
              </a:ext>
            </a:extLst>
          </p:cNvPr>
          <p:cNvSpPr>
            <a:spLocks noGrp="1"/>
          </p:cNvSpPr>
          <p:nvPr>
            <p:ph type="body" idx="1"/>
          </p:nvPr>
        </p:nvSpPr>
        <p:spPr>
          <a:xfrm>
            <a:off x="804333" y="5563388"/>
            <a:ext cx="7558609" cy="742279"/>
          </a:xfrm>
        </p:spPr>
        <p:txBody>
          <a:bodyPr vert="horz" lIns="91440" tIns="45720" rIns="91440" bIns="45720" rtlCol="0" anchor="t">
            <a:normAutofit/>
          </a:bodyPr>
          <a:lstStyle/>
          <a:p>
            <a:endParaRPr lang="en-US" sz="1800">
              <a:solidFill>
                <a:schemeClr val="tx2"/>
              </a:solidFill>
            </a:endParaRPr>
          </a:p>
        </p:txBody>
      </p:sp>
      <p:sp>
        <p:nvSpPr>
          <p:cNvPr id="16" name="Rectangle 15">
            <a:extLst>
              <a:ext uri="{FF2B5EF4-FFF2-40B4-BE49-F238E27FC236}">
                <a16:creationId xmlns:a16="http://schemas.microsoft.com/office/drawing/2014/main" id="{34336F18-80E9-4DFA-9C2E-3F8561472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rgbClr val="17162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Freeform: Shape 17">
            <a:extLst>
              <a:ext uri="{FF2B5EF4-FFF2-40B4-BE49-F238E27FC236}">
                <a16:creationId xmlns:a16="http://schemas.microsoft.com/office/drawing/2014/main" id="{9D293054-EC89-4CF2-AAEF-B38981E92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9302764" y="0"/>
            <a:ext cx="2889236" cy="6858000"/>
          </a:xfrm>
          <a:custGeom>
            <a:avLst/>
            <a:gdLst>
              <a:gd name="connsiteX0" fmla="*/ 1514461 w 2889236"/>
              <a:gd name="connsiteY0" fmla="*/ 0 h 6858000"/>
              <a:gd name="connsiteX1" fmla="*/ 1291796 w 2889236"/>
              <a:gd name="connsiteY1" fmla="*/ 0 h 6858000"/>
              <a:gd name="connsiteX2" fmla="*/ 1242998 w 2889236"/>
              <a:gd name="connsiteY2" fmla="*/ 0 h 6858000"/>
              <a:gd name="connsiteX3" fmla="*/ 303177 w 2889236"/>
              <a:gd name="connsiteY3" fmla="*/ 0 h 6858000"/>
              <a:gd name="connsiteX4" fmla="*/ 235415 w 2889236"/>
              <a:gd name="connsiteY4" fmla="*/ 0 h 6858000"/>
              <a:gd name="connsiteX5" fmla="*/ 0 w 2889236"/>
              <a:gd name="connsiteY5" fmla="*/ 0 h 6858000"/>
              <a:gd name="connsiteX6" fmla="*/ 0 w 2889236"/>
              <a:gd name="connsiteY6" fmla="*/ 6858000 h 6858000"/>
              <a:gd name="connsiteX7" fmla="*/ 235415 w 2889236"/>
              <a:gd name="connsiteY7" fmla="*/ 6858000 h 6858000"/>
              <a:gd name="connsiteX8" fmla="*/ 303177 w 2889236"/>
              <a:gd name="connsiteY8" fmla="*/ 6858000 h 6858000"/>
              <a:gd name="connsiteX9" fmla="*/ 1242998 w 2889236"/>
              <a:gd name="connsiteY9" fmla="*/ 6858000 h 6858000"/>
              <a:gd name="connsiteX10" fmla="*/ 1291795 w 2889236"/>
              <a:gd name="connsiteY10" fmla="*/ 6858000 h 6858000"/>
              <a:gd name="connsiteX11" fmla="*/ 1514461 w 2889236"/>
              <a:gd name="connsiteY11" fmla="*/ 6858000 h 6858000"/>
              <a:gd name="connsiteX12" fmla="*/ 1541448 w 2889236"/>
              <a:gd name="connsiteY12" fmla="*/ 6770688 h 6858000"/>
              <a:gd name="connsiteX13" fmla="*/ 1566848 w 2889236"/>
              <a:gd name="connsiteY13" fmla="*/ 6683375 h 6858000"/>
              <a:gd name="connsiteX14" fmla="*/ 1592248 w 2889236"/>
              <a:gd name="connsiteY14" fmla="*/ 6594475 h 6858000"/>
              <a:gd name="connsiteX15" fmla="*/ 1614473 w 2889236"/>
              <a:gd name="connsiteY15" fmla="*/ 6503988 h 6858000"/>
              <a:gd name="connsiteX16" fmla="*/ 1641461 w 2889236"/>
              <a:gd name="connsiteY16" fmla="*/ 6416675 h 6858000"/>
              <a:gd name="connsiteX17" fmla="*/ 1670036 w 2889236"/>
              <a:gd name="connsiteY17" fmla="*/ 6332538 h 6858000"/>
              <a:gd name="connsiteX18" fmla="*/ 1706548 w 2889236"/>
              <a:gd name="connsiteY18" fmla="*/ 6253163 h 6858000"/>
              <a:gd name="connsiteX19" fmla="*/ 1749411 w 2889236"/>
              <a:gd name="connsiteY19" fmla="*/ 6180138 h 6858000"/>
              <a:gd name="connsiteX20" fmla="*/ 1797036 w 2889236"/>
              <a:gd name="connsiteY20" fmla="*/ 6118225 h 6858000"/>
              <a:gd name="connsiteX21" fmla="*/ 1849423 w 2889236"/>
              <a:gd name="connsiteY21" fmla="*/ 6059488 h 6858000"/>
              <a:gd name="connsiteX22" fmla="*/ 1909748 w 2889236"/>
              <a:gd name="connsiteY22" fmla="*/ 6005513 h 6858000"/>
              <a:gd name="connsiteX23" fmla="*/ 1973248 w 2889236"/>
              <a:gd name="connsiteY23" fmla="*/ 5951538 h 6858000"/>
              <a:gd name="connsiteX24" fmla="*/ 2039923 w 2889236"/>
              <a:gd name="connsiteY24" fmla="*/ 5900738 h 6858000"/>
              <a:gd name="connsiteX25" fmla="*/ 2106598 w 2889236"/>
              <a:gd name="connsiteY25" fmla="*/ 5849938 h 6858000"/>
              <a:gd name="connsiteX26" fmla="*/ 2174861 w 2889236"/>
              <a:gd name="connsiteY26" fmla="*/ 5797550 h 6858000"/>
              <a:gd name="connsiteX27" fmla="*/ 2239948 w 2889236"/>
              <a:gd name="connsiteY27" fmla="*/ 5746750 h 6858000"/>
              <a:gd name="connsiteX28" fmla="*/ 2301861 w 2889236"/>
              <a:gd name="connsiteY28" fmla="*/ 5692775 h 6858000"/>
              <a:gd name="connsiteX29" fmla="*/ 2359011 w 2889236"/>
              <a:gd name="connsiteY29" fmla="*/ 5634038 h 6858000"/>
              <a:gd name="connsiteX30" fmla="*/ 2411398 w 2889236"/>
              <a:gd name="connsiteY30" fmla="*/ 5575300 h 6858000"/>
              <a:gd name="connsiteX31" fmla="*/ 2454261 w 2889236"/>
              <a:gd name="connsiteY31" fmla="*/ 5511800 h 6858000"/>
              <a:gd name="connsiteX32" fmla="*/ 2490773 w 2889236"/>
              <a:gd name="connsiteY32" fmla="*/ 5440363 h 6858000"/>
              <a:gd name="connsiteX33" fmla="*/ 2512998 w 2889236"/>
              <a:gd name="connsiteY33" fmla="*/ 5370513 h 6858000"/>
              <a:gd name="connsiteX34" fmla="*/ 2527286 w 2889236"/>
              <a:gd name="connsiteY34" fmla="*/ 5292725 h 6858000"/>
              <a:gd name="connsiteX35" fmla="*/ 2533636 w 2889236"/>
              <a:gd name="connsiteY35" fmla="*/ 5216525 h 6858000"/>
              <a:gd name="connsiteX36" fmla="*/ 2532048 w 2889236"/>
              <a:gd name="connsiteY36" fmla="*/ 5135563 h 6858000"/>
              <a:gd name="connsiteX37" fmla="*/ 2525698 w 2889236"/>
              <a:gd name="connsiteY37" fmla="*/ 5054600 h 6858000"/>
              <a:gd name="connsiteX38" fmla="*/ 2517761 w 2889236"/>
              <a:gd name="connsiteY38" fmla="*/ 4970463 h 6858000"/>
              <a:gd name="connsiteX39" fmla="*/ 2506648 w 2889236"/>
              <a:gd name="connsiteY39" fmla="*/ 4886325 h 6858000"/>
              <a:gd name="connsiteX40" fmla="*/ 2493948 w 2889236"/>
              <a:gd name="connsiteY40" fmla="*/ 4802188 h 6858000"/>
              <a:gd name="connsiteX41" fmla="*/ 2484423 w 2889236"/>
              <a:gd name="connsiteY41" fmla="*/ 4718050 h 6858000"/>
              <a:gd name="connsiteX42" fmla="*/ 2478073 w 2889236"/>
              <a:gd name="connsiteY42" fmla="*/ 4633913 h 6858000"/>
              <a:gd name="connsiteX43" fmla="*/ 2473311 w 2889236"/>
              <a:gd name="connsiteY43" fmla="*/ 4552950 h 6858000"/>
              <a:gd name="connsiteX44" fmla="*/ 2478073 w 2889236"/>
              <a:gd name="connsiteY44" fmla="*/ 4473575 h 6858000"/>
              <a:gd name="connsiteX45" fmla="*/ 2487598 w 2889236"/>
              <a:gd name="connsiteY45" fmla="*/ 4395788 h 6858000"/>
              <a:gd name="connsiteX46" fmla="*/ 2508236 w 2889236"/>
              <a:gd name="connsiteY46" fmla="*/ 4314825 h 6858000"/>
              <a:gd name="connsiteX47" fmla="*/ 2539986 w 2889236"/>
              <a:gd name="connsiteY47" fmla="*/ 4235450 h 6858000"/>
              <a:gd name="connsiteX48" fmla="*/ 2578086 w 2889236"/>
              <a:gd name="connsiteY48" fmla="*/ 4156075 h 6858000"/>
              <a:gd name="connsiteX49" fmla="*/ 2620948 w 2889236"/>
              <a:gd name="connsiteY49" fmla="*/ 4076700 h 6858000"/>
              <a:gd name="connsiteX50" fmla="*/ 2665398 w 2889236"/>
              <a:gd name="connsiteY50" fmla="*/ 3998913 h 6858000"/>
              <a:gd name="connsiteX51" fmla="*/ 2713024 w 2889236"/>
              <a:gd name="connsiteY51" fmla="*/ 3919538 h 6858000"/>
              <a:gd name="connsiteX52" fmla="*/ 2755886 w 2889236"/>
              <a:gd name="connsiteY52" fmla="*/ 3840163 h 6858000"/>
              <a:gd name="connsiteX53" fmla="*/ 2798748 w 2889236"/>
              <a:gd name="connsiteY53" fmla="*/ 3759200 h 6858000"/>
              <a:gd name="connsiteX54" fmla="*/ 2835261 w 2889236"/>
              <a:gd name="connsiteY54" fmla="*/ 3678238 h 6858000"/>
              <a:gd name="connsiteX55" fmla="*/ 2863836 w 2889236"/>
              <a:gd name="connsiteY55" fmla="*/ 3597275 h 6858000"/>
              <a:gd name="connsiteX56" fmla="*/ 2879711 w 2889236"/>
              <a:gd name="connsiteY56" fmla="*/ 3514725 h 6858000"/>
              <a:gd name="connsiteX57" fmla="*/ 2889236 w 2889236"/>
              <a:gd name="connsiteY57" fmla="*/ 3429000 h 6858000"/>
              <a:gd name="connsiteX58" fmla="*/ 2879711 w 2889236"/>
              <a:gd name="connsiteY58" fmla="*/ 3343275 h 6858000"/>
              <a:gd name="connsiteX59" fmla="*/ 2863836 w 2889236"/>
              <a:gd name="connsiteY59" fmla="*/ 3260725 h 6858000"/>
              <a:gd name="connsiteX60" fmla="*/ 2835261 w 2889236"/>
              <a:gd name="connsiteY60" fmla="*/ 3179763 h 6858000"/>
              <a:gd name="connsiteX61" fmla="*/ 2798748 w 2889236"/>
              <a:gd name="connsiteY61" fmla="*/ 3098800 h 6858000"/>
              <a:gd name="connsiteX62" fmla="*/ 2755886 w 2889236"/>
              <a:gd name="connsiteY62" fmla="*/ 3017838 h 6858000"/>
              <a:gd name="connsiteX63" fmla="*/ 2713024 w 2889236"/>
              <a:gd name="connsiteY63" fmla="*/ 2938463 h 6858000"/>
              <a:gd name="connsiteX64" fmla="*/ 2665398 w 2889236"/>
              <a:gd name="connsiteY64" fmla="*/ 2859088 h 6858000"/>
              <a:gd name="connsiteX65" fmla="*/ 2620948 w 2889236"/>
              <a:gd name="connsiteY65" fmla="*/ 2781300 h 6858000"/>
              <a:gd name="connsiteX66" fmla="*/ 2578086 w 2889236"/>
              <a:gd name="connsiteY66" fmla="*/ 2701925 h 6858000"/>
              <a:gd name="connsiteX67" fmla="*/ 2539986 w 2889236"/>
              <a:gd name="connsiteY67" fmla="*/ 2622550 h 6858000"/>
              <a:gd name="connsiteX68" fmla="*/ 2508236 w 2889236"/>
              <a:gd name="connsiteY68" fmla="*/ 2543175 h 6858000"/>
              <a:gd name="connsiteX69" fmla="*/ 2487598 w 2889236"/>
              <a:gd name="connsiteY69" fmla="*/ 2462213 h 6858000"/>
              <a:gd name="connsiteX70" fmla="*/ 2478073 w 2889236"/>
              <a:gd name="connsiteY70" fmla="*/ 2384425 h 6858000"/>
              <a:gd name="connsiteX71" fmla="*/ 2473311 w 2889236"/>
              <a:gd name="connsiteY71" fmla="*/ 2305050 h 6858000"/>
              <a:gd name="connsiteX72" fmla="*/ 2478073 w 2889236"/>
              <a:gd name="connsiteY72" fmla="*/ 2224088 h 6858000"/>
              <a:gd name="connsiteX73" fmla="*/ 2484423 w 2889236"/>
              <a:gd name="connsiteY73" fmla="*/ 2139950 h 6858000"/>
              <a:gd name="connsiteX74" fmla="*/ 2493948 w 2889236"/>
              <a:gd name="connsiteY74" fmla="*/ 2055813 h 6858000"/>
              <a:gd name="connsiteX75" fmla="*/ 2506648 w 2889236"/>
              <a:gd name="connsiteY75" fmla="*/ 1971675 h 6858000"/>
              <a:gd name="connsiteX76" fmla="*/ 2517761 w 2889236"/>
              <a:gd name="connsiteY76" fmla="*/ 1887538 h 6858000"/>
              <a:gd name="connsiteX77" fmla="*/ 2525698 w 2889236"/>
              <a:gd name="connsiteY77" fmla="*/ 1803400 h 6858000"/>
              <a:gd name="connsiteX78" fmla="*/ 2532048 w 2889236"/>
              <a:gd name="connsiteY78" fmla="*/ 1722438 h 6858000"/>
              <a:gd name="connsiteX79" fmla="*/ 2533636 w 2889236"/>
              <a:gd name="connsiteY79" fmla="*/ 1641475 h 6858000"/>
              <a:gd name="connsiteX80" fmla="*/ 2527286 w 2889236"/>
              <a:gd name="connsiteY80" fmla="*/ 1565275 h 6858000"/>
              <a:gd name="connsiteX81" fmla="*/ 2512998 w 2889236"/>
              <a:gd name="connsiteY81" fmla="*/ 1487488 h 6858000"/>
              <a:gd name="connsiteX82" fmla="*/ 2490773 w 2889236"/>
              <a:gd name="connsiteY82" fmla="*/ 1417638 h 6858000"/>
              <a:gd name="connsiteX83" fmla="*/ 2454261 w 2889236"/>
              <a:gd name="connsiteY83" fmla="*/ 1346200 h 6858000"/>
              <a:gd name="connsiteX84" fmla="*/ 2411398 w 2889236"/>
              <a:gd name="connsiteY84" fmla="*/ 1282700 h 6858000"/>
              <a:gd name="connsiteX85" fmla="*/ 2359011 w 2889236"/>
              <a:gd name="connsiteY85" fmla="*/ 1223963 h 6858000"/>
              <a:gd name="connsiteX86" fmla="*/ 2301861 w 2889236"/>
              <a:gd name="connsiteY86" fmla="*/ 1165225 h 6858000"/>
              <a:gd name="connsiteX87" fmla="*/ 2239948 w 2889236"/>
              <a:gd name="connsiteY87" fmla="*/ 1111250 h 6858000"/>
              <a:gd name="connsiteX88" fmla="*/ 2174861 w 2889236"/>
              <a:gd name="connsiteY88" fmla="*/ 1060450 h 6858000"/>
              <a:gd name="connsiteX89" fmla="*/ 2106598 w 2889236"/>
              <a:gd name="connsiteY89" fmla="*/ 1008063 h 6858000"/>
              <a:gd name="connsiteX90" fmla="*/ 2039923 w 2889236"/>
              <a:gd name="connsiteY90" fmla="*/ 957263 h 6858000"/>
              <a:gd name="connsiteX91" fmla="*/ 1973248 w 2889236"/>
              <a:gd name="connsiteY91" fmla="*/ 906463 h 6858000"/>
              <a:gd name="connsiteX92" fmla="*/ 1909748 w 2889236"/>
              <a:gd name="connsiteY92" fmla="*/ 852488 h 6858000"/>
              <a:gd name="connsiteX93" fmla="*/ 1849423 w 2889236"/>
              <a:gd name="connsiteY93" fmla="*/ 798513 h 6858000"/>
              <a:gd name="connsiteX94" fmla="*/ 1797036 w 2889236"/>
              <a:gd name="connsiteY94" fmla="*/ 739775 h 6858000"/>
              <a:gd name="connsiteX95" fmla="*/ 1749411 w 2889236"/>
              <a:gd name="connsiteY95" fmla="*/ 677863 h 6858000"/>
              <a:gd name="connsiteX96" fmla="*/ 1706548 w 2889236"/>
              <a:gd name="connsiteY96" fmla="*/ 604838 h 6858000"/>
              <a:gd name="connsiteX97" fmla="*/ 1670036 w 2889236"/>
              <a:gd name="connsiteY97" fmla="*/ 525463 h 6858000"/>
              <a:gd name="connsiteX98" fmla="*/ 1641461 w 2889236"/>
              <a:gd name="connsiteY98" fmla="*/ 441325 h 6858000"/>
              <a:gd name="connsiteX99" fmla="*/ 1614473 w 2889236"/>
              <a:gd name="connsiteY99" fmla="*/ 354013 h 6858000"/>
              <a:gd name="connsiteX100" fmla="*/ 1592248 w 2889236"/>
              <a:gd name="connsiteY100" fmla="*/ 263525 h 6858000"/>
              <a:gd name="connsiteX101" fmla="*/ 1566848 w 2889236"/>
              <a:gd name="connsiteY101" fmla="*/ 174625 h 6858000"/>
              <a:gd name="connsiteX102" fmla="*/ 1541448 w 2889236"/>
              <a:gd name="connsiteY102" fmla="*/ 873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2889236" h="6858000">
                <a:moveTo>
                  <a:pt x="1514461" y="0"/>
                </a:moveTo>
                <a:lnTo>
                  <a:pt x="1291796" y="0"/>
                </a:lnTo>
                <a:lnTo>
                  <a:pt x="1242998" y="0"/>
                </a:lnTo>
                <a:lnTo>
                  <a:pt x="303177" y="0"/>
                </a:lnTo>
                <a:lnTo>
                  <a:pt x="235415" y="0"/>
                </a:lnTo>
                <a:lnTo>
                  <a:pt x="0" y="0"/>
                </a:lnTo>
                <a:lnTo>
                  <a:pt x="0" y="6858000"/>
                </a:lnTo>
                <a:lnTo>
                  <a:pt x="235415" y="6858000"/>
                </a:lnTo>
                <a:lnTo>
                  <a:pt x="303177" y="6858000"/>
                </a:lnTo>
                <a:lnTo>
                  <a:pt x="1242998" y="6858000"/>
                </a:lnTo>
                <a:lnTo>
                  <a:pt x="1291795" y="6858000"/>
                </a:lnTo>
                <a:lnTo>
                  <a:pt x="1514461" y="6858000"/>
                </a:lnTo>
                <a:lnTo>
                  <a:pt x="1541448" y="6770688"/>
                </a:lnTo>
                <a:lnTo>
                  <a:pt x="1566848" y="6683375"/>
                </a:lnTo>
                <a:lnTo>
                  <a:pt x="1592248" y="6594475"/>
                </a:lnTo>
                <a:lnTo>
                  <a:pt x="1614473" y="6503988"/>
                </a:lnTo>
                <a:lnTo>
                  <a:pt x="1641461" y="6416675"/>
                </a:lnTo>
                <a:lnTo>
                  <a:pt x="1670036" y="6332538"/>
                </a:lnTo>
                <a:lnTo>
                  <a:pt x="1706548" y="6253163"/>
                </a:lnTo>
                <a:lnTo>
                  <a:pt x="1749411" y="6180138"/>
                </a:lnTo>
                <a:lnTo>
                  <a:pt x="1797036" y="6118225"/>
                </a:lnTo>
                <a:lnTo>
                  <a:pt x="1849423" y="6059488"/>
                </a:lnTo>
                <a:lnTo>
                  <a:pt x="1909748" y="6005513"/>
                </a:lnTo>
                <a:lnTo>
                  <a:pt x="1973248" y="5951538"/>
                </a:lnTo>
                <a:lnTo>
                  <a:pt x="2039923" y="5900738"/>
                </a:lnTo>
                <a:lnTo>
                  <a:pt x="2106598" y="5849938"/>
                </a:lnTo>
                <a:lnTo>
                  <a:pt x="2174861" y="5797550"/>
                </a:lnTo>
                <a:lnTo>
                  <a:pt x="2239948" y="5746750"/>
                </a:lnTo>
                <a:lnTo>
                  <a:pt x="2301861" y="5692775"/>
                </a:lnTo>
                <a:lnTo>
                  <a:pt x="2359011" y="5634038"/>
                </a:lnTo>
                <a:lnTo>
                  <a:pt x="2411398" y="5575300"/>
                </a:lnTo>
                <a:lnTo>
                  <a:pt x="2454261" y="5511800"/>
                </a:lnTo>
                <a:lnTo>
                  <a:pt x="2490773" y="5440363"/>
                </a:lnTo>
                <a:lnTo>
                  <a:pt x="2512998" y="5370513"/>
                </a:lnTo>
                <a:lnTo>
                  <a:pt x="2527286" y="5292725"/>
                </a:lnTo>
                <a:lnTo>
                  <a:pt x="2533636" y="5216525"/>
                </a:lnTo>
                <a:lnTo>
                  <a:pt x="2532048" y="5135563"/>
                </a:lnTo>
                <a:lnTo>
                  <a:pt x="2525698" y="5054600"/>
                </a:lnTo>
                <a:lnTo>
                  <a:pt x="2517761" y="4970463"/>
                </a:lnTo>
                <a:lnTo>
                  <a:pt x="2506648" y="4886325"/>
                </a:lnTo>
                <a:lnTo>
                  <a:pt x="2493948" y="4802188"/>
                </a:lnTo>
                <a:lnTo>
                  <a:pt x="2484423" y="4718050"/>
                </a:lnTo>
                <a:lnTo>
                  <a:pt x="2478073" y="4633913"/>
                </a:lnTo>
                <a:lnTo>
                  <a:pt x="2473311" y="4552950"/>
                </a:lnTo>
                <a:lnTo>
                  <a:pt x="2478073" y="4473575"/>
                </a:lnTo>
                <a:lnTo>
                  <a:pt x="2487598" y="4395788"/>
                </a:lnTo>
                <a:lnTo>
                  <a:pt x="2508236" y="4314825"/>
                </a:lnTo>
                <a:lnTo>
                  <a:pt x="2539986" y="4235450"/>
                </a:lnTo>
                <a:lnTo>
                  <a:pt x="2578086" y="4156075"/>
                </a:lnTo>
                <a:lnTo>
                  <a:pt x="2620948" y="4076700"/>
                </a:lnTo>
                <a:lnTo>
                  <a:pt x="2665398" y="3998913"/>
                </a:lnTo>
                <a:lnTo>
                  <a:pt x="2713024" y="3919538"/>
                </a:lnTo>
                <a:lnTo>
                  <a:pt x="2755886" y="3840163"/>
                </a:lnTo>
                <a:lnTo>
                  <a:pt x="2798748" y="3759200"/>
                </a:lnTo>
                <a:lnTo>
                  <a:pt x="2835261" y="3678238"/>
                </a:lnTo>
                <a:lnTo>
                  <a:pt x="2863836" y="3597275"/>
                </a:lnTo>
                <a:lnTo>
                  <a:pt x="2879711" y="3514725"/>
                </a:lnTo>
                <a:lnTo>
                  <a:pt x="2889236" y="3429000"/>
                </a:lnTo>
                <a:lnTo>
                  <a:pt x="2879711" y="3343275"/>
                </a:lnTo>
                <a:lnTo>
                  <a:pt x="2863836" y="3260725"/>
                </a:lnTo>
                <a:lnTo>
                  <a:pt x="2835261" y="3179763"/>
                </a:lnTo>
                <a:lnTo>
                  <a:pt x="2798748" y="3098800"/>
                </a:lnTo>
                <a:lnTo>
                  <a:pt x="2755886" y="3017838"/>
                </a:lnTo>
                <a:lnTo>
                  <a:pt x="2713024" y="2938463"/>
                </a:lnTo>
                <a:lnTo>
                  <a:pt x="2665398" y="2859088"/>
                </a:lnTo>
                <a:lnTo>
                  <a:pt x="2620948" y="2781300"/>
                </a:lnTo>
                <a:lnTo>
                  <a:pt x="2578086" y="2701925"/>
                </a:lnTo>
                <a:lnTo>
                  <a:pt x="2539986" y="2622550"/>
                </a:lnTo>
                <a:lnTo>
                  <a:pt x="2508236" y="2543175"/>
                </a:lnTo>
                <a:lnTo>
                  <a:pt x="2487598" y="2462213"/>
                </a:lnTo>
                <a:lnTo>
                  <a:pt x="2478073" y="2384425"/>
                </a:lnTo>
                <a:lnTo>
                  <a:pt x="2473311" y="2305050"/>
                </a:lnTo>
                <a:lnTo>
                  <a:pt x="2478073" y="2224088"/>
                </a:lnTo>
                <a:lnTo>
                  <a:pt x="2484423" y="2139950"/>
                </a:lnTo>
                <a:lnTo>
                  <a:pt x="2493948" y="2055813"/>
                </a:lnTo>
                <a:lnTo>
                  <a:pt x="2506648" y="1971675"/>
                </a:lnTo>
                <a:lnTo>
                  <a:pt x="2517761" y="1887538"/>
                </a:lnTo>
                <a:lnTo>
                  <a:pt x="2525698" y="1803400"/>
                </a:lnTo>
                <a:lnTo>
                  <a:pt x="2532048" y="1722438"/>
                </a:lnTo>
                <a:lnTo>
                  <a:pt x="2533636" y="1641475"/>
                </a:lnTo>
                <a:lnTo>
                  <a:pt x="2527286" y="1565275"/>
                </a:lnTo>
                <a:lnTo>
                  <a:pt x="2512998" y="1487488"/>
                </a:lnTo>
                <a:lnTo>
                  <a:pt x="2490773" y="1417638"/>
                </a:lnTo>
                <a:lnTo>
                  <a:pt x="2454261" y="1346200"/>
                </a:lnTo>
                <a:lnTo>
                  <a:pt x="2411398" y="1282700"/>
                </a:lnTo>
                <a:lnTo>
                  <a:pt x="2359011" y="1223963"/>
                </a:lnTo>
                <a:lnTo>
                  <a:pt x="2301861" y="1165225"/>
                </a:lnTo>
                <a:lnTo>
                  <a:pt x="2239948" y="1111250"/>
                </a:lnTo>
                <a:lnTo>
                  <a:pt x="2174861" y="1060450"/>
                </a:lnTo>
                <a:lnTo>
                  <a:pt x="2106598" y="1008063"/>
                </a:lnTo>
                <a:lnTo>
                  <a:pt x="2039923" y="957263"/>
                </a:lnTo>
                <a:lnTo>
                  <a:pt x="1973248" y="906463"/>
                </a:lnTo>
                <a:lnTo>
                  <a:pt x="1909748" y="852488"/>
                </a:lnTo>
                <a:lnTo>
                  <a:pt x="1849423" y="798513"/>
                </a:lnTo>
                <a:lnTo>
                  <a:pt x="1797036" y="739775"/>
                </a:lnTo>
                <a:lnTo>
                  <a:pt x="1749411" y="677863"/>
                </a:lnTo>
                <a:lnTo>
                  <a:pt x="1706548" y="604838"/>
                </a:lnTo>
                <a:lnTo>
                  <a:pt x="1670036" y="525463"/>
                </a:lnTo>
                <a:lnTo>
                  <a:pt x="1641461" y="441325"/>
                </a:lnTo>
                <a:lnTo>
                  <a:pt x="1614473" y="354013"/>
                </a:lnTo>
                <a:lnTo>
                  <a:pt x="1592248" y="263525"/>
                </a:lnTo>
                <a:lnTo>
                  <a:pt x="1566848" y="174625"/>
                </a:lnTo>
                <a:lnTo>
                  <a:pt x="1541448" y="87313"/>
                </a:lnTo>
                <a:close/>
              </a:path>
            </a:pathLst>
          </a:custGeom>
          <a:solidFill>
            <a:srgbClr val="171624"/>
          </a:solidFill>
          <a:ln w="0">
            <a:noFill/>
            <a:prstDash val="solid"/>
            <a:round/>
            <a:headEnd/>
            <a:tailEnd/>
          </a:ln>
        </p:spPr>
        <p:txBody>
          <a:bodyPr/>
          <a:lstStyle/>
          <a:p>
            <a:endParaRPr lang="en-US"/>
          </a:p>
        </p:txBody>
      </p:sp>
    </p:spTree>
    <p:extLst>
      <p:ext uri="{BB962C8B-B14F-4D97-AF65-F5344CB8AC3E}">
        <p14:creationId xmlns:p14="http://schemas.microsoft.com/office/powerpoint/2010/main" val="2766744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6693-2204-D091-1876-D3470A2811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0D40A0-0F16-6DDC-B83A-4EA8B6E5D535}"/>
              </a:ext>
            </a:extLst>
          </p:cNvPr>
          <p:cNvSpPr>
            <a:spLocks noGrp="1"/>
          </p:cNvSpPr>
          <p:nvPr>
            <p:ph idx="1"/>
          </p:nvPr>
        </p:nvSpPr>
        <p:spPr/>
        <p:txBody>
          <a:bodyPr/>
          <a:lstStyle/>
          <a:p>
            <a:r>
              <a:rPr lang="en-US" dirty="0"/>
              <a:t>And the longer answer is that we need theory if we want to </a:t>
            </a:r>
            <a:r>
              <a:rPr lang="en-US" dirty="0">
                <a:solidFill>
                  <a:schemeClr val="accent1"/>
                </a:solidFill>
              </a:rPr>
              <a:t>use</a:t>
            </a:r>
            <a:r>
              <a:rPr lang="en-US" dirty="0"/>
              <a:t> these tools or if we want to </a:t>
            </a:r>
            <a:r>
              <a:rPr lang="en-US" dirty="0">
                <a:solidFill>
                  <a:schemeClr val="accent1"/>
                </a:solidFill>
              </a:rPr>
              <a:t>improve</a:t>
            </a:r>
            <a:r>
              <a:rPr lang="en-US" dirty="0"/>
              <a:t> these tool. </a:t>
            </a:r>
          </a:p>
        </p:txBody>
      </p:sp>
    </p:spTree>
    <p:extLst>
      <p:ext uri="{BB962C8B-B14F-4D97-AF65-F5344CB8AC3E}">
        <p14:creationId xmlns:p14="http://schemas.microsoft.com/office/powerpoint/2010/main" val="2021579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016238-59A6-5A14-7598-2663F07B4883}"/>
              </a:ext>
            </a:extLst>
          </p:cNvPr>
          <p:cNvSpPr>
            <a:spLocks noGrp="1"/>
          </p:cNvSpPr>
          <p:nvPr>
            <p:ph type="title"/>
          </p:nvPr>
        </p:nvSpPr>
        <p:spPr/>
        <p:txBody>
          <a:bodyPr/>
          <a:lstStyle/>
          <a:p>
            <a:r>
              <a:rPr lang="en-US" dirty="0"/>
              <a:t>Theory to use NLP tools</a:t>
            </a:r>
          </a:p>
        </p:txBody>
      </p:sp>
      <p:sp>
        <p:nvSpPr>
          <p:cNvPr id="5" name="Text Placeholder 4">
            <a:extLst>
              <a:ext uri="{FF2B5EF4-FFF2-40B4-BE49-F238E27FC236}">
                <a16:creationId xmlns:a16="http://schemas.microsoft.com/office/drawing/2014/main" id="{53DC086F-F7E0-4F0B-C787-26CD0808A11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45063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520020-E7C2-7840-5DF3-B9A1E278776D}"/>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52351549-0EC0-BB9C-8655-B823F0B76C8B}"/>
              </a:ext>
            </a:extLst>
          </p:cNvPr>
          <p:cNvSpPr>
            <a:spLocks noGrp="1"/>
          </p:cNvSpPr>
          <p:nvPr>
            <p:ph idx="1"/>
          </p:nvPr>
        </p:nvSpPr>
        <p:spPr/>
        <p:txBody>
          <a:bodyPr/>
          <a:lstStyle/>
          <a:p>
            <a:r>
              <a:rPr lang="en-US" dirty="0"/>
              <a:t>Remember that our comparative advantage as social and political scientists is not our computational or statistical prowess, but rather our understanding of social interactions and patterns of power. </a:t>
            </a:r>
          </a:p>
          <a:p>
            <a:r>
              <a:rPr lang="en-US" dirty="0"/>
              <a:t>Even though we are </a:t>
            </a:r>
            <a:r>
              <a:rPr lang="en-US" i="1" dirty="0"/>
              <a:t>methods-forward </a:t>
            </a:r>
            <a:r>
              <a:rPr lang="en-US" dirty="0"/>
              <a:t>department, we are all primarily driven by research questions. </a:t>
            </a:r>
            <a:endParaRPr lang="en-US" i="1" dirty="0"/>
          </a:p>
          <a:p>
            <a:endParaRPr lang="en-US" dirty="0"/>
          </a:p>
          <a:p>
            <a:r>
              <a:rPr lang="en-US" dirty="0"/>
              <a:t>Take, for example, racial identity and racist discourse…</a:t>
            </a:r>
          </a:p>
        </p:txBody>
      </p:sp>
    </p:spTree>
    <p:extLst>
      <p:ext uri="{BB962C8B-B14F-4D97-AF65-F5344CB8AC3E}">
        <p14:creationId xmlns:p14="http://schemas.microsoft.com/office/powerpoint/2010/main" val="2848363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E42B-FD84-3210-64D4-9FF12BD849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3745A9-E1E9-A763-68B7-97B79EC1EDDB}"/>
              </a:ext>
            </a:extLst>
          </p:cNvPr>
          <p:cNvSpPr>
            <a:spLocks noGrp="1"/>
          </p:cNvSpPr>
          <p:nvPr>
            <p:ph idx="1"/>
          </p:nvPr>
        </p:nvSpPr>
        <p:spPr/>
        <p:txBody>
          <a:bodyPr/>
          <a:lstStyle/>
          <a:p>
            <a:r>
              <a:rPr lang="en-US" dirty="0"/>
              <a:t>The main goal of our paper “Machines Do See Color: An Approach to Classify Different Forms of Racist Discourse in Large Corpora” is to develop a generalizable approach to identify and classify different forms of racist discourse in large corpora using Transformers–based machine learning approach. </a:t>
            </a:r>
          </a:p>
          <a:p>
            <a:r>
              <a:rPr lang="en-US" dirty="0"/>
              <a:t>The idea behind it is that we need to first understand how racist discourse is constructed in order to match our classification strategy to the model we are to going use. </a:t>
            </a:r>
          </a:p>
          <a:p>
            <a:endParaRPr lang="en-US" dirty="0"/>
          </a:p>
          <a:p>
            <a:r>
              <a:rPr lang="en-US" dirty="0"/>
              <a:t>Thus, we cannot really use the tools from our toolkit without first understanding language (i.e., society, power) and what elements from language we are able to mimic with out tools. </a:t>
            </a:r>
          </a:p>
        </p:txBody>
      </p:sp>
    </p:spTree>
    <p:extLst>
      <p:ext uri="{BB962C8B-B14F-4D97-AF65-F5344CB8AC3E}">
        <p14:creationId xmlns:p14="http://schemas.microsoft.com/office/powerpoint/2010/main" val="1470483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1A00E-F301-1C16-35BC-125E46CA00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84EF6A-8D88-0F7F-1811-72383F886940}"/>
              </a:ext>
            </a:extLst>
          </p:cNvPr>
          <p:cNvSpPr>
            <a:spLocks noGrp="1"/>
          </p:cNvSpPr>
          <p:nvPr>
            <p:ph idx="1"/>
          </p:nvPr>
        </p:nvSpPr>
        <p:spPr/>
        <p:txBody>
          <a:bodyPr/>
          <a:lstStyle/>
          <a:p>
            <a:r>
              <a:rPr lang="en-US" dirty="0"/>
              <a:t>This does not mean we all need to be linguists (even though it wouldn’t hurt to grab an early Chomsky book), but we do need to understand where discourse comes from. </a:t>
            </a:r>
          </a:p>
          <a:p>
            <a:r>
              <a:rPr lang="en-US" dirty="0"/>
              <a:t>After all, we are assigning meaning to words, words built from political and social interactions.  </a:t>
            </a:r>
          </a:p>
          <a:p>
            <a:endParaRPr lang="en-US" dirty="0"/>
          </a:p>
          <a:p>
            <a:r>
              <a:rPr lang="en-US" dirty="0"/>
              <a:t>When we don’t, we are using tools for the sake of using them. </a:t>
            </a:r>
          </a:p>
        </p:txBody>
      </p:sp>
    </p:spTree>
    <p:extLst>
      <p:ext uri="{BB962C8B-B14F-4D97-AF65-F5344CB8AC3E}">
        <p14:creationId xmlns:p14="http://schemas.microsoft.com/office/powerpoint/2010/main" val="4019614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F4C5B7-92B7-C8DF-5B11-16D44C4C87D3}"/>
              </a:ext>
            </a:extLst>
          </p:cNvPr>
          <p:cNvSpPr>
            <a:spLocks noGrp="1"/>
          </p:cNvSpPr>
          <p:nvPr>
            <p:ph type="title"/>
          </p:nvPr>
        </p:nvSpPr>
        <p:spPr/>
        <p:txBody>
          <a:bodyPr/>
          <a:lstStyle/>
          <a:p>
            <a:r>
              <a:rPr lang="en-US" dirty="0"/>
              <a:t>Theory to improve NLP</a:t>
            </a:r>
          </a:p>
        </p:txBody>
      </p:sp>
      <p:sp>
        <p:nvSpPr>
          <p:cNvPr id="5" name="Text Placeholder 4">
            <a:extLst>
              <a:ext uri="{FF2B5EF4-FFF2-40B4-BE49-F238E27FC236}">
                <a16:creationId xmlns:a16="http://schemas.microsoft.com/office/drawing/2014/main" id="{DB37DEEA-D981-D403-10CA-3383F2801EA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74784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4FE070-2B38-4231-31D8-91E1F8C654CC}"/>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A2CF8BE7-784D-1353-DE63-DA0A80F1F7F6}"/>
              </a:ext>
            </a:extLst>
          </p:cNvPr>
          <p:cNvSpPr>
            <a:spLocks noGrp="1"/>
          </p:cNvSpPr>
          <p:nvPr>
            <p:ph idx="1"/>
          </p:nvPr>
        </p:nvSpPr>
        <p:spPr/>
        <p:txBody>
          <a:bodyPr/>
          <a:lstStyle/>
          <a:p>
            <a:r>
              <a:rPr lang="en-US" dirty="0"/>
              <a:t>Even the most technical advances in NLP require theory. </a:t>
            </a:r>
          </a:p>
          <a:p>
            <a:r>
              <a:rPr lang="en-US" dirty="0"/>
              <a:t>For example, </a:t>
            </a:r>
            <a:r>
              <a:rPr lang="en-US" i="1" dirty="0"/>
              <a:t>cloze procedure</a:t>
            </a:r>
            <a:r>
              <a:rPr lang="en-US" dirty="0"/>
              <a:t> is the precursor to </a:t>
            </a:r>
            <a:r>
              <a:rPr lang="en-US" i="1" dirty="0"/>
              <a:t>masking</a:t>
            </a:r>
            <a:r>
              <a:rPr lang="en-US" dirty="0"/>
              <a:t>.  </a:t>
            </a:r>
          </a:p>
        </p:txBody>
      </p:sp>
    </p:spTree>
    <p:extLst>
      <p:ext uri="{BB962C8B-B14F-4D97-AF65-F5344CB8AC3E}">
        <p14:creationId xmlns:p14="http://schemas.microsoft.com/office/powerpoint/2010/main" val="2255652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870E-8816-D484-AD7B-1349A5B8F0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31014C-5F1B-7DDD-0893-A8B142A52C44}"/>
              </a:ext>
            </a:extLst>
          </p:cNvPr>
          <p:cNvSpPr>
            <a:spLocks noGrp="1"/>
          </p:cNvSpPr>
          <p:nvPr>
            <p:ph idx="1"/>
          </p:nvPr>
        </p:nvSpPr>
        <p:spPr/>
        <p:txBody>
          <a:bodyPr/>
          <a:lstStyle/>
          <a:p>
            <a:r>
              <a:rPr lang="en-US" dirty="0"/>
              <a:t>Understanding, not necessarily the math, but the intuition behind these models is what allows us to continue improving NLP techniques that fit different fields of research. </a:t>
            </a:r>
          </a:p>
          <a:p>
            <a:r>
              <a:rPr lang="en-US" dirty="0"/>
              <a:t>Think about </a:t>
            </a:r>
            <a:r>
              <a:rPr lang="en-US" i="1" dirty="0" err="1"/>
              <a:t>wordfish</a:t>
            </a:r>
            <a:r>
              <a:rPr lang="en-US" dirty="0"/>
              <a:t> or </a:t>
            </a:r>
            <a:r>
              <a:rPr lang="en-CA" dirty="0" err="1"/>
              <a:t>Rheault</a:t>
            </a:r>
            <a:r>
              <a:rPr lang="en-CA" dirty="0"/>
              <a:t> and Cochrane "Word embeddings for the analysis of ideological placement in parliamentary corpora”… more than technical skills, these require our own understanding of ideology, language, and politics (and, yes, NLP techniques). </a:t>
            </a:r>
            <a:endParaRPr lang="en-US" dirty="0"/>
          </a:p>
        </p:txBody>
      </p:sp>
    </p:spTree>
    <p:extLst>
      <p:ext uri="{BB962C8B-B14F-4D97-AF65-F5344CB8AC3E}">
        <p14:creationId xmlns:p14="http://schemas.microsoft.com/office/powerpoint/2010/main" val="4173095322"/>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Badge</Template>
  <TotalTime>103</TotalTime>
  <Words>442</Words>
  <Application>Microsoft Macintosh PowerPoint</Application>
  <PresentationFormat>Widescreen</PresentationFormat>
  <Paragraphs>31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Gill Sans MT</vt:lpstr>
      <vt:lpstr>Impact</vt:lpstr>
      <vt:lpstr>Badge</vt:lpstr>
      <vt:lpstr>PowerPoint Presentation</vt:lpstr>
      <vt:lpstr>Do we even need theory?</vt:lpstr>
      <vt:lpstr>PowerPoint Presentation</vt:lpstr>
      <vt:lpstr>YES</vt:lpstr>
      <vt:lpstr>PowerPoint Presentation</vt:lpstr>
      <vt:lpstr>Theory to use NLP tools</vt:lpstr>
      <vt:lpstr>PowerPoint Presentation</vt:lpstr>
      <vt:lpstr>PowerPoint Presentation</vt:lpstr>
      <vt:lpstr>PowerPoint Presentation</vt:lpstr>
      <vt:lpstr>Theory to improve NLP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Sebastian Vallejo Vera</dc:creator>
  <cp:lastModifiedBy>Sebastian Vallejo Vera</cp:lastModifiedBy>
  <cp:revision>1</cp:revision>
  <dcterms:created xsi:type="dcterms:W3CDTF">2024-03-05T23:43:07Z</dcterms:created>
  <dcterms:modified xsi:type="dcterms:W3CDTF">2024-03-18T12:55:50Z</dcterms:modified>
</cp:coreProperties>
</file>