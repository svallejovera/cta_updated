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310" r:id="rId5"/>
    <p:sldId id="312" r:id="rId6"/>
    <p:sldId id="313" r:id="rId7"/>
    <p:sldId id="314" r:id="rId8"/>
    <p:sldId id="315" r:id="rId9"/>
    <p:sldId id="288" r:id="rId10"/>
    <p:sldId id="311" r:id="rId11"/>
    <p:sldId id="289" r:id="rId12"/>
    <p:sldId id="292" r:id="rId13"/>
    <p:sldId id="290" r:id="rId14"/>
    <p:sldId id="316" r:id="rId15"/>
    <p:sldId id="317" r:id="rId16"/>
    <p:sldId id="318" r:id="rId17"/>
    <p:sldId id="319" r:id="rId18"/>
    <p:sldId id="320" r:id="rId19"/>
    <p:sldId id="309" r:id="rId20"/>
    <p:sldId id="321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262" r:id="rId34"/>
    <p:sldId id="263" r:id="rId35"/>
    <p:sldId id="264" r:id="rId36"/>
    <p:sldId id="308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FF6C0-9E6F-A644-8609-7DD204006BE3}" v="27" dt="2026-01-26T17:52:53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/>
    <p:restoredTop sz="94699"/>
  </p:normalViewPr>
  <p:slideViewPr>
    <p:cSldViewPr snapToGrid="0">
      <p:cViewPr varScale="1">
        <p:scale>
          <a:sx n="210" d="100"/>
          <a:sy n="210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Vallejo Vera" userId="661f42ee-5565-49c4-8b1d-325f2d699b91" providerId="ADAL" clId="{8C1EFA1F-0339-5164-815E-AFC004A65A72}"/>
    <pc:docChg chg="undo custSel addSld delSld modSld">
      <pc:chgData name="Sebastian Vallejo Vera" userId="661f42ee-5565-49c4-8b1d-325f2d699b91" providerId="ADAL" clId="{8C1EFA1F-0339-5164-815E-AFC004A65A72}" dt="2026-01-26T17:52:53.335" v="1168" actId="767"/>
      <pc:docMkLst>
        <pc:docMk/>
      </pc:docMkLst>
      <pc:sldChg chg="del">
        <pc:chgData name="Sebastian Vallejo Vera" userId="661f42ee-5565-49c4-8b1d-325f2d699b91" providerId="ADAL" clId="{8C1EFA1F-0339-5164-815E-AFC004A65A72}" dt="2026-01-26T17:00:28.298" v="0" actId="2696"/>
        <pc:sldMkLst>
          <pc:docMk/>
          <pc:sldMk cId="1479720676" sldId="257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2813187354" sldId="260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3266210065" sldId="261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1060482635" sldId="265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2750657952" sldId="266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384404244" sldId="267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3307326229" sldId="268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3580080809" sldId="270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1106274441" sldId="272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2030622578" sldId="273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571783692" sldId="276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1184595227" sldId="277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173152868" sldId="278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4252159681" sldId="279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1919283659" sldId="282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945306372" sldId="283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4239719684" sldId="284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55597668" sldId="285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2751179141" sldId="286"/>
        </pc:sldMkLst>
      </pc:sldChg>
      <pc:sldChg chg="del">
        <pc:chgData name="Sebastian Vallejo Vera" userId="661f42ee-5565-49c4-8b1d-325f2d699b91" providerId="ADAL" clId="{8C1EFA1F-0339-5164-815E-AFC004A65A72}" dt="2026-01-26T17:01:10.879" v="1" actId="2696"/>
        <pc:sldMkLst>
          <pc:docMk/>
          <pc:sldMk cId="1636850210" sldId="287"/>
        </pc:sldMkLst>
      </pc:sldChg>
      <pc:sldChg chg="modSp mod">
        <pc:chgData name="Sebastian Vallejo Vera" userId="661f42ee-5565-49c4-8b1d-325f2d699b91" providerId="ADAL" clId="{8C1EFA1F-0339-5164-815E-AFC004A65A72}" dt="2026-01-26T17:37:43.948" v="1148" actId="21"/>
        <pc:sldMkLst>
          <pc:docMk/>
          <pc:sldMk cId="4076449059" sldId="293"/>
        </pc:sldMkLst>
        <pc:spChg chg="mod">
          <ac:chgData name="Sebastian Vallejo Vera" userId="661f42ee-5565-49c4-8b1d-325f2d699b91" providerId="ADAL" clId="{8C1EFA1F-0339-5164-815E-AFC004A65A72}" dt="2026-01-26T17:37:43.948" v="1148" actId="21"/>
          <ac:spMkLst>
            <pc:docMk/>
            <pc:sldMk cId="4076449059" sldId="293"/>
            <ac:spMk id="4" creationId="{7CA4BB1E-FA36-9F7F-B124-8F7A47101227}"/>
          </ac:spMkLst>
        </pc:spChg>
      </pc:sldChg>
      <pc:sldChg chg="modSp">
        <pc:chgData name="Sebastian Vallejo Vera" userId="661f42ee-5565-49c4-8b1d-325f2d699b91" providerId="ADAL" clId="{8C1EFA1F-0339-5164-815E-AFC004A65A72}" dt="2026-01-26T17:38:58.858" v="1167" actId="20577"/>
        <pc:sldMkLst>
          <pc:docMk/>
          <pc:sldMk cId="3240217340" sldId="295"/>
        </pc:sldMkLst>
        <pc:spChg chg="mod">
          <ac:chgData name="Sebastian Vallejo Vera" userId="661f42ee-5565-49c4-8b1d-325f2d699b91" providerId="ADAL" clId="{8C1EFA1F-0339-5164-815E-AFC004A65A72}" dt="2026-01-26T17:38:58.858" v="1167" actId="20577"/>
          <ac:spMkLst>
            <pc:docMk/>
            <pc:sldMk cId="3240217340" sldId="295"/>
            <ac:spMk id="3" creationId="{44948EDA-30D2-FA1C-9AC8-0A13E61212E1}"/>
          </ac:spMkLst>
        </pc:spChg>
      </pc:sldChg>
      <pc:sldChg chg="addSp modSp">
        <pc:chgData name="Sebastian Vallejo Vera" userId="661f42ee-5565-49c4-8b1d-325f2d699b91" providerId="ADAL" clId="{8C1EFA1F-0339-5164-815E-AFC004A65A72}" dt="2026-01-26T17:52:53.335" v="1168" actId="767"/>
        <pc:sldMkLst>
          <pc:docMk/>
          <pc:sldMk cId="1519194051" sldId="303"/>
        </pc:sldMkLst>
        <pc:spChg chg="add mod">
          <ac:chgData name="Sebastian Vallejo Vera" userId="661f42ee-5565-49c4-8b1d-325f2d699b91" providerId="ADAL" clId="{8C1EFA1F-0339-5164-815E-AFC004A65A72}" dt="2026-01-26T17:52:53.335" v="1168" actId="767"/>
          <ac:spMkLst>
            <pc:docMk/>
            <pc:sldMk cId="1519194051" sldId="303"/>
            <ac:spMk id="9" creationId="{D8FEB9C0-0152-FAEE-AECB-6FB8B0A9AF0B}"/>
          </ac:spMkLst>
        </pc:spChg>
      </pc:sldChg>
      <pc:sldChg chg="modSp add mod">
        <pc:chgData name="Sebastian Vallejo Vera" userId="661f42ee-5565-49c4-8b1d-325f2d699b91" providerId="ADAL" clId="{8C1EFA1F-0339-5164-815E-AFC004A65A72}" dt="2026-01-26T17:01:24.594" v="3" actId="13926"/>
        <pc:sldMkLst>
          <pc:docMk/>
          <pc:sldMk cId="1440897691" sldId="310"/>
        </pc:sldMkLst>
        <pc:spChg chg="mod">
          <ac:chgData name="Sebastian Vallejo Vera" userId="661f42ee-5565-49c4-8b1d-325f2d699b91" providerId="ADAL" clId="{8C1EFA1F-0339-5164-815E-AFC004A65A72}" dt="2026-01-26T17:01:24.594" v="3" actId="13926"/>
          <ac:spMkLst>
            <pc:docMk/>
            <pc:sldMk cId="1440897691" sldId="310"/>
            <ac:spMk id="3" creationId="{70D7C171-06B3-FB6D-5C84-C2AC03C79F58}"/>
          </ac:spMkLst>
        </pc:spChg>
      </pc:sldChg>
      <pc:sldChg chg="addSp delSp modSp new mod chgLayout">
        <pc:chgData name="Sebastian Vallejo Vera" userId="661f42ee-5565-49c4-8b1d-325f2d699b91" providerId="ADAL" clId="{8C1EFA1F-0339-5164-815E-AFC004A65A72}" dt="2026-01-26T17:09:09.398" v="595" actId="20577"/>
        <pc:sldMkLst>
          <pc:docMk/>
          <pc:sldMk cId="2776194903" sldId="311"/>
        </pc:sldMkLst>
        <pc:spChg chg="del mod ord">
          <ac:chgData name="Sebastian Vallejo Vera" userId="661f42ee-5565-49c4-8b1d-325f2d699b91" providerId="ADAL" clId="{8C1EFA1F-0339-5164-815E-AFC004A65A72}" dt="2026-01-26T17:02:49.169" v="5" actId="700"/>
          <ac:spMkLst>
            <pc:docMk/>
            <pc:sldMk cId="2776194903" sldId="311"/>
            <ac:spMk id="2" creationId="{4FECFC0A-E47F-E181-E666-079E1100C17A}"/>
          </ac:spMkLst>
        </pc:spChg>
        <pc:spChg chg="del mod ord">
          <ac:chgData name="Sebastian Vallejo Vera" userId="661f42ee-5565-49c4-8b1d-325f2d699b91" providerId="ADAL" clId="{8C1EFA1F-0339-5164-815E-AFC004A65A72}" dt="2026-01-26T17:02:49.169" v="5" actId="700"/>
          <ac:spMkLst>
            <pc:docMk/>
            <pc:sldMk cId="2776194903" sldId="311"/>
            <ac:spMk id="3" creationId="{1C7F227C-94B3-87D7-3573-DE99BC9EE687}"/>
          </ac:spMkLst>
        </pc:spChg>
        <pc:spChg chg="add mod ord">
          <ac:chgData name="Sebastian Vallejo Vera" userId="661f42ee-5565-49c4-8b1d-325f2d699b91" providerId="ADAL" clId="{8C1EFA1F-0339-5164-815E-AFC004A65A72}" dt="2026-01-26T17:02:49.169" v="5" actId="700"/>
          <ac:spMkLst>
            <pc:docMk/>
            <pc:sldMk cId="2776194903" sldId="311"/>
            <ac:spMk id="4" creationId="{15FCC47F-D221-7FCC-BB4E-869B9EF53E1F}"/>
          </ac:spMkLst>
        </pc:spChg>
        <pc:spChg chg="add mod ord">
          <ac:chgData name="Sebastian Vallejo Vera" userId="661f42ee-5565-49c4-8b1d-325f2d699b91" providerId="ADAL" clId="{8C1EFA1F-0339-5164-815E-AFC004A65A72}" dt="2026-01-26T17:09:09.398" v="595" actId="20577"/>
          <ac:spMkLst>
            <pc:docMk/>
            <pc:sldMk cId="2776194903" sldId="311"/>
            <ac:spMk id="5" creationId="{1414E2B5-95B9-AAF3-1DBC-C4A26F107CD5}"/>
          </ac:spMkLst>
        </pc:spChg>
      </pc:sldChg>
      <pc:sldChg chg="modSp new mod">
        <pc:chgData name="Sebastian Vallejo Vera" userId="661f42ee-5565-49c4-8b1d-325f2d699b91" providerId="ADAL" clId="{8C1EFA1F-0339-5164-815E-AFC004A65A72}" dt="2026-01-26T17:14:35.071" v="617" actId="20577"/>
        <pc:sldMkLst>
          <pc:docMk/>
          <pc:sldMk cId="2392510951" sldId="312"/>
        </pc:sldMkLst>
        <pc:spChg chg="mod">
          <ac:chgData name="Sebastian Vallejo Vera" userId="661f42ee-5565-49c4-8b1d-325f2d699b91" providerId="ADAL" clId="{8C1EFA1F-0339-5164-815E-AFC004A65A72}" dt="2026-01-26T17:14:35.071" v="617" actId="20577"/>
          <ac:spMkLst>
            <pc:docMk/>
            <pc:sldMk cId="2392510951" sldId="312"/>
            <ac:spMk id="2" creationId="{3F5EAE76-1C7C-1D67-C029-85128E6709C9}"/>
          </ac:spMkLst>
        </pc:spChg>
      </pc:sldChg>
      <pc:sldChg chg="modSp new mod">
        <pc:chgData name="Sebastian Vallejo Vera" userId="661f42ee-5565-49c4-8b1d-325f2d699b91" providerId="ADAL" clId="{8C1EFA1F-0339-5164-815E-AFC004A65A72}" dt="2026-01-26T17:15:56.016" v="634" actId="113"/>
        <pc:sldMkLst>
          <pc:docMk/>
          <pc:sldMk cId="1755889258" sldId="313"/>
        </pc:sldMkLst>
        <pc:spChg chg="mod">
          <ac:chgData name="Sebastian Vallejo Vera" userId="661f42ee-5565-49c4-8b1d-325f2d699b91" providerId="ADAL" clId="{8C1EFA1F-0339-5164-815E-AFC004A65A72}" dt="2026-01-26T17:15:56.016" v="634" actId="113"/>
          <ac:spMkLst>
            <pc:docMk/>
            <pc:sldMk cId="1755889258" sldId="313"/>
            <ac:spMk id="3" creationId="{2CA0FEDD-538E-864E-4B69-BC5DAF411D37}"/>
          </ac:spMkLst>
        </pc:spChg>
      </pc:sldChg>
      <pc:sldChg chg="modSp new mod">
        <pc:chgData name="Sebastian Vallejo Vera" userId="661f42ee-5565-49c4-8b1d-325f2d699b91" providerId="ADAL" clId="{8C1EFA1F-0339-5164-815E-AFC004A65A72}" dt="2026-01-26T17:16:55.594" v="709" actId="20577"/>
        <pc:sldMkLst>
          <pc:docMk/>
          <pc:sldMk cId="1178780027" sldId="314"/>
        </pc:sldMkLst>
        <pc:spChg chg="mod">
          <ac:chgData name="Sebastian Vallejo Vera" userId="661f42ee-5565-49c4-8b1d-325f2d699b91" providerId="ADAL" clId="{8C1EFA1F-0339-5164-815E-AFC004A65A72}" dt="2026-01-26T17:16:46.205" v="707" actId="20577"/>
          <ac:spMkLst>
            <pc:docMk/>
            <pc:sldMk cId="1178780027" sldId="314"/>
            <ac:spMk id="2" creationId="{CA311155-6CD5-4061-A5FC-E96916338907}"/>
          </ac:spMkLst>
        </pc:spChg>
        <pc:spChg chg="mod">
          <ac:chgData name="Sebastian Vallejo Vera" userId="661f42ee-5565-49c4-8b1d-325f2d699b91" providerId="ADAL" clId="{8C1EFA1F-0339-5164-815E-AFC004A65A72}" dt="2026-01-26T17:16:55.594" v="709" actId="20577"/>
          <ac:spMkLst>
            <pc:docMk/>
            <pc:sldMk cId="1178780027" sldId="314"/>
            <ac:spMk id="3" creationId="{E3989C23-D83B-A778-25DB-03F3DAD7DFA3}"/>
          </ac:spMkLst>
        </pc:spChg>
      </pc:sldChg>
      <pc:sldChg chg="modSp new mod">
        <pc:chgData name="Sebastian Vallejo Vera" userId="661f42ee-5565-49c4-8b1d-325f2d699b91" providerId="ADAL" clId="{8C1EFA1F-0339-5164-815E-AFC004A65A72}" dt="2026-01-26T17:18:55.224" v="932" actId="20577"/>
        <pc:sldMkLst>
          <pc:docMk/>
          <pc:sldMk cId="3896521787" sldId="315"/>
        </pc:sldMkLst>
        <pc:spChg chg="mod">
          <ac:chgData name="Sebastian Vallejo Vera" userId="661f42ee-5565-49c4-8b1d-325f2d699b91" providerId="ADAL" clId="{8C1EFA1F-0339-5164-815E-AFC004A65A72}" dt="2026-01-26T17:17:28.601" v="760" actId="20577"/>
          <ac:spMkLst>
            <pc:docMk/>
            <pc:sldMk cId="3896521787" sldId="315"/>
            <ac:spMk id="2" creationId="{7C73F641-5BF1-55F1-105A-E016D1E8F2DB}"/>
          </ac:spMkLst>
        </pc:spChg>
        <pc:spChg chg="mod">
          <ac:chgData name="Sebastian Vallejo Vera" userId="661f42ee-5565-49c4-8b1d-325f2d699b91" providerId="ADAL" clId="{8C1EFA1F-0339-5164-815E-AFC004A65A72}" dt="2026-01-26T17:18:55.224" v="932" actId="20577"/>
          <ac:spMkLst>
            <pc:docMk/>
            <pc:sldMk cId="3896521787" sldId="315"/>
            <ac:spMk id="3" creationId="{2A3D9F27-7755-CF89-AFB1-CD61337B193F}"/>
          </ac:spMkLst>
        </pc:spChg>
      </pc:sldChg>
      <pc:sldChg chg="modSp new mod">
        <pc:chgData name="Sebastian Vallejo Vera" userId="661f42ee-5565-49c4-8b1d-325f2d699b91" providerId="ADAL" clId="{8C1EFA1F-0339-5164-815E-AFC004A65A72}" dt="2026-01-26T17:20:10.743" v="951" actId="20577"/>
        <pc:sldMkLst>
          <pc:docMk/>
          <pc:sldMk cId="942471627" sldId="316"/>
        </pc:sldMkLst>
        <pc:spChg chg="mod">
          <ac:chgData name="Sebastian Vallejo Vera" userId="661f42ee-5565-49c4-8b1d-325f2d699b91" providerId="ADAL" clId="{8C1EFA1F-0339-5164-815E-AFC004A65A72}" dt="2026-01-26T17:20:10.743" v="951" actId="20577"/>
          <ac:spMkLst>
            <pc:docMk/>
            <pc:sldMk cId="942471627" sldId="316"/>
            <ac:spMk id="2" creationId="{4B503026-4A0A-558B-7A6E-6C84449D8BF9}"/>
          </ac:spMkLst>
        </pc:spChg>
      </pc:sldChg>
      <pc:sldChg chg="modSp new mod">
        <pc:chgData name="Sebastian Vallejo Vera" userId="661f42ee-5565-49c4-8b1d-325f2d699b91" providerId="ADAL" clId="{8C1EFA1F-0339-5164-815E-AFC004A65A72}" dt="2026-01-26T17:20:55.922" v="980" actId="15"/>
        <pc:sldMkLst>
          <pc:docMk/>
          <pc:sldMk cId="3550028061" sldId="317"/>
        </pc:sldMkLst>
        <pc:spChg chg="mod">
          <ac:chgData name="Sebastian Vallejo Vera" userId="661f42ee-5565-49c4-8b1d-325f2d699b91" providerId="ADAL" clId="{8C1EFA1F-0339-5164-815E-AFC004A65A72}" dt="2026-01-26T17:20:29.532" v="977" actId="20577"/>
          <ac:spMkLst>
            <pc:docMk/>
            <pc:sldMk cId="3550028061" sldId="317"/>
            <ac:spMk id="2" creationId="{C6F63082-1476-CF85-A7FB-EA7A0863EA7F}"/>
          </ac:spMkLst>
        </pc:spChg>
        <pc:spChg chg="mod">
          <ac:chgData name="Sebastian Vallejo Vera" userId="661f42ee-5565-49c4-8b1d-325f2d699b91" providerId="ADAL" clId="{8C1EFA1F-0339-5164-815E-AFC004A65A72}" dt="2026-01-26T17:20:55.922" v="980" actId="15"/>
          <ac:spMkLst>
            <pc:docMk/>
            <pc:sldMk cId="3550028061" sldId="317"/>
            <ac:spMk id="3" creationId="{A472E0E9-0C72-D58A-1B97-11165D52756E}"/>
          </ac:spMkLst>
        </pc:spChg>
      </pc:sldChg>
      <pc:sldChg chg="modSp new mod">
        <pc:chgData name="Sebastian Vallejo Vera" userId="661f42ee-5565-49c4-8b1d-325f2d699b91" providerId="ADAL" clId="{8C1EFA1F-0339-5164-815E-AFC004A65A72}" dt="2026-01-26T17:23:02.585" v="1069" actId="20577"/>
        <pc:sldMkLst>
          <pc:docMk/>
          <pc:sldMk cId="1700105003" sldId="318"/>
        </pc:sldMkLst>
        <pc:spChg chg="mod">
          <ac:chgData name="Sebastian Vallejo Vera" userId="661f42ee-5565-49c4-8b1d-325f2d699b91" providerId="ADAL" clId="{8C1EFA1F-0339-5164-815E-AFC004A65A72}" dt="2026-01-26T17:21:23.343" v="1012" actId="20577"/>
          <ac:spMkLst>
            <pc:docMk/>
            <pc:sldMk cId="1700105003" sldId="318"/>
            <ac:spMk id="2" creationId="{D19E2C0D-9C96-E851-6126-E217E4B93A60}"/>
          </ac:spMkLst>
        </pc:spChg>
        <pc:spChg chg="mod">
          <ac:chgData name="Sebastian Vallejo Vera" userId="661f42ee-5565-49c4-8b1d-325f2d699b91" providerId="ADAL" clId="{8C1EFA1F-0339-5164-815E-AFC004A65A72}" dt="2026-01-26T17:23:02.585" v="1069" actId="20577"/>
          <ac:spMkLst>
            <pc:docMk/>
            <pc:sldMk cId="1700105003" sldId="318"/>
            <ac:spMk id="3" creationId="{535A9713-46DE-D0CB-70EC-B10A43968EAD}"/>
          </ac:spMkLst>
        </pc:spChg>
      </pc:sldChg>
      <pc:sldChg chg="addSp modSp new mod">
        <pc:chgData name="Sebastian Vallejo Vera" userId="661f42ee-5565-49c4-8b1d-325f2d699b91" providerId="ADAL" clId="{8C1EFA1F-0339-5164-815E-AFC004A65A72}" dt="2026-01-26T17:27:19.591" v="1134" actId="1076"/>
        <pc:sldMkLst>
          <pc:docMk/>
          <pc:sldMk cId="2830124694" sldId="319"/>
        </pc:sldMkLst>
        <pc:spChg chg="mod">
          <ac:chgData name="Sebastian Vallejo Vera" userId="661f42ee-5565-49c4-8b1d-325f2d699b91" providerId="ADAL" clId="{8C1EFA1F-0339-5164-815E-AFC004A65A72}" dt="2026-01-26T17:23:34.713" v="1091" actId="20577"/>
          <ac:spMkLst>
            <pc:docMk/>
            <pc:sldMk cId="2830124694" sldId="319"/>
            <ac:spMk id="2" creationId="{B4F5F447-5B13-EF40-D145-A2C72B5C3FAD}"/>
          </ac:spMkLst>
        </pc:spChg>
        <pc:spChg chg="mod">
          <ac:chgData name="Sebastian Vallejo Vera" userId="661f42ee-5565-49c4-8b1d-325f2d699b91" providerId="ADAL" clId="{8C1EFA1F-0339-5164-815E-AFC004A65A72}" dt="2026-01-26T17:25:52.331" v="1124" actId="27636"/>
          <ac:spMkLst>
            <pc:docMk/>
            <pc:sldMk cId="2830124694" sldId="319"/>
            <ac:spMk id="3" creationId="{4EA7CD52-436C-D68F-AE62-83D7D404C0BA}"/>
          </ac:spMkLst>
        </pc:spChg>
        <pc:picChg chg="add mod">
          <ac:chgData name="Sebastian Vallejo Vera" userId="661f42ee-5565-49c4-8b1d-325f2d699b91" providerId="ADAL" clId="{8C1EFA1F-0339-5164-815E-AFC004A65A72}" dt="2026-01-26T17:26:37.244" v="1127" actId="1076"/>
          <ac:picMkLst>
            <pc:docMk/>
            <pc:sldMk cId="2830124694" sldId="319"/>
            <ac:picMk id="4" creationId="{3B4D9E2A-9CD9-58E6-33B5-FE800FB3B4F1}"/>
          </ac:picMkLst>
        </pc:picChg>
        <pc:picChg chg="add mod">
          <ac:chgData name="Sebastian Vallejo Vera" userId="661f42ee-5565-49c4-8b1d-325f2d699b91" providerId="ADAL" clId="{8C1EFA1F-0339-5164-815E-AFC004A65A72}" dt="2026-01-26T17:27:19.591" v="1134" actId="1076"/>
          <ac:picMkLst>
            <pc:docMk/>
            <pc:sldMk cId="2830124694" sldId="319"/>
            <ac:picMk id="5" creationId="{C1B08F96-F69B-919D-6936-5BE5FD6E5182}"/>
          </ac:picMkLst>
        </pc:picChg>
      </pc:sldChg>
      <pc:sldChg chg="addSp modSp new mod setBg">
        <pc:chgData name="Sebastian Vallejo Vera" userId="661f42ee-5565-49c4-8b1d-325f2d699b91" providerId="ADAL" clId="{8C1EFA1F-0339-5164-815E-AFC004A65A72}" dt="2026-01-26T17:36:28.466" v="1137" actId="26606"/>
        <pc:sldMkLst>
          <pc:docMk/>
          <pc:sldMk cId="1430465744" sldId="320"/>
        </pc:sldMkLst>
        <pc:spChg chg="add">
          <ac:chgData name="Sebastian Vallejo Vera" userId="661f42ee-5565-49c4-8b1d-325f2d699b91" providerId="ADAL" clId="{8C1EFA1F-0339-5164-815E-AFC004A65A72}" dt="2026-01-26T17:36:28.466" v="1137" actId="26606"/>
          <ac:spMkLst>
            <pc:docMk/>
            <pc:sldMk cId="1430465744" sldId="320"/>
            <ac:spMk id="7" creationId="{CE606343-BADE-4565-AB89-E9EF7E253F80}"/>
          </ac:spMkLst>
        </pc:spChg>
        <pc:spChg chg="add">
          <ac:chgData name="Sebastian Vallejo Vera" userId="661f42ee-5565-49c4-8b1d-325f2d699b91" providerId="ADAL" clId="{8C1EFA1F-0339-5164-815E-AFC004A65A72}" dt="2026-01-26T17:36:28.466" v="1137" actId="26606"/>
          <ac:spMkLst>
            <pc:docMk/>
            <pc:sldMk cId="1430465744" sldId="320"/>
            <ac:spMk id="9" creationId="{39E183BD-2932-401F-8B53-E247764B376B}"/>
          </ac:spMkLst>
        </pc:spChg>
        <pc:picChg chg="add mod">
          <ac:chgData name="Sebastian Vallejo Vera" userId="661f42ee-5565-49c4-8b1d-325f2d699b91" providerId="ADAL" clId="{8C1EFA1F-0339-5164-815E-AFC004A65A72}" dt="2026-01-26T17:36:28.466" v="1137" actId="26606"/>
          <ac:picMkLst>
            <pc:docMk/>
            <pc:sldMk cId="1430465744" sldId="320"/>
            <ac:picMk id="2" creationId="{84C01FCA-382E-6164-D0F7-BCD504A7883A}"/>
          </ac:picMkLst>
        </pc:picChg>
      </pc:sldChg>
      <pc:sldChg chg="addSp delSp modSp new mod chgLayout">
        <pc:chgData name="Sebastian Vallejo Vera" userId="661f42ee-5565-49c4-8b1d-325f2d699b91" providerId="ADAL" clId="{8C1EFA1F-0339-5164-815E-AFC004A65A72}" dt="2026-01-26T17:38:21.694" v="1164" actId="20577"/>
        <pc:sldMkLst>
          <pc:docMk/>
          <pc:sldMk cId="693243059" sldId="321"/>
        </pc:sldMkLst>
        <pc:spChg chg="del mod ord">
          <ac:chgData name="Sebastian Vallejo Vera" userId="661f42ee-5565-49c4-8b1d-325f2d699b91" providerId="ADAL" clId="{8C1EFA1F-0339-5164-815E-AFC004A65A72}" dt="2026-01-26T17:37:40.766" v="1147" actId="700"/>
          <ac:spMkLst>
            <pc:docMk/>
            <pc:sldMk cId="693243059" sldId="321"/>
            <ac:spMk id="2" creationId="{82204293-2917-17EF-02A8-BCD93111D012}"/>
          </ac:spMkLst>
        </pc:spChg>
        <pc:spChg chg="del mod ord">
          <ac:chgData name="Sebastian Vallejo Vera" userId="661f42ee-5565-49c4-8b1d-325f2d699b91" providerId="ADAL" clId="{8C1EFA1F-0339-5164-815E-AFC004A65A72}" dt="2026-01-26T17:37:40.766" v="1147" actId="700"/>
          <ac:spMkLst>
            <pc:docMk/>
            <pc:sldMk cId="693243059" sldId="321"/>
            <ac:spMk id="3" creationId="{15BF58BD-49C5-4492-4862-3F1778E0865C}"/>
          </ac:spMkLst>
        </pc:spChg>
        <pc:spChg chg="add mod ord">
          <ac:chgData name="Sebastian Vallejo Vera" userId="661f42ee-5565-49c4-8b1d-325f2d699b91" providerId="ADAL" clId="{8C1EFA1F-0339-5164-815E-AFC004A65A72}" dt="2026-01-26T17:37:40.766" v="1147" actId="700"/>
          <ac:spMkLst>
            <pc:docMk/>
            <pc:sldMk cId="693243059" sldId="321"/>
            <ac:spMk id="4" creationId="{FBCC29FF-2263-D0F9-4C87-D179FA879725}"/>
          </ac:spMkLst>
        </pc:spChg>
        <pc:spChg chg="add mod ord">
          <ac:chgData name="Sebastian Vallejo Vera" userId="661f42ee-5565-49c4-8b1d-325f2d699b91" providerId="ADAL" clId="{8C1EFA1F-0339-5164-815E-AFC004A65A72}" dt="2026-01-26T17:38:21.694" v="1164" actId="20577"/>
          <ac:spMkLst>
            <pc:docMk/>
            <pc:sldMk cId="693243059" sldId="321"/>
            <ac:spMk id="5" creationId="{9AD261AC-07B0-9952-BAE3-AD18DA6C7F33}"/>
          </ac:spMkLst>
        </pc:spChg>
        <pc:spChg chg="add del">
          <ac:chgData name="Sebastian Vallejo Vera" userId="661f42ee-5565-49c4-8b1d-325f2d699b91" providerId="ADAL" clId="{8C1EFA1F-0339-5164-815E-AFC004A65A72}" dt="2026-01-26T17:38:06.752" v="1155" actId="22"/>
          <ac:spMkLst>
            <pc:docMk/>
            <pc:sldMk cId="693243059" sldId="321"/>
            <ac:spMk id="7" creationId="{94CE9170-723F-46B0-19D7-81F24DBC3F2A}"/>
          </ac:spMkLst>
        </pc:spChg>
      </pc:sldChg>
      <pc:sldChg chg="new del">
        <pc:chgData name="Sebastian Vallejo Vera" userId="661f42ee-5565-49c4-8b1d-325f2d699b91" providerId="ADAL" clId="{8C1EFA1F-0339-5164-815E-AFC004A65A72}" dt="2026-01-26T17:36:41.253" v="1139" actId="2696"/>
        <pc:sldMkLst>
          <pc:docMk/>
          <pc:sldMk cId="2391004917" sldId="32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6T18:42:01.45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4097.98438"/>
      <inkml:brushProperty name="anchorY" value="-28323.80078"/>
      <inkml:brushProperty name="scaleFactor" value="0.5"/>
    </inkml:brush>
  </inkml:definitions>
  <inkml:trace contextRef="#ctx0" brushRef="#br0">1 2112 24575,'49'-76'0,"-3"19"0,6-6-1544,-9 8 1,1-4-1,0 2 1544,21-17 0,-1 2 0,-22 20 0,-1 0 0,3-1 0,7-4 0,2 0 0,-2 2-1439,9-14 0,4-3 1439,-6 9 0,8-6 0,1 0 0,-10 12 0,-2 7 0,0 3-208,10-13 0,8-5 0,1 3 208,-5 12 0,1 3 0,-3 4 0,8-5 0,1 2 0,0 1 0,6-1 0,-6 7 0,0 9 0,-3 6 0,16-6 0,2 2 0,-1 2 0,-3 3-766,-23 10 1,-2 2 765,6-1 0,-3 4 1291,20 6-1291,14-10 0,-27 11 2895,-16-4-2895,-15 5 2665,-7 0-2665,-15 0 2500,-2 0-2500,-5 0 313,-4 0-313,4 0 0,-4 0 0,-4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6T18:42:03.02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5759.92188"/>
      <inkml:brushProperty name="anchorY" value="-37318.39063"/>
      <inkml:brushProperty name="scaleFactor" value="0.5"/>
    </inkml:brush>
  </inkml:definitions>
  <inkml:trace contextRef="#ctx0" brushRef="#br0">1 0 24575,'15'12'0,"5"1"0,11 16 0,6-1 0,7 10 0,5-10 0,10 12 0,-13-16 0,15 10 0,-18-8 0,12-3 0,-6 3 0,-2-5 0,-5 5 0,-6-13 0,-1 10 0,-7-17 0,-9 7 0,2-5 0,-8 1 0,0-1 0,-1 0 0,-5 0 0,1-4 0,-1-1 0,-2 0 0,-2 1 0,-3 3 0,0 1 0,0-1 0,0 0 0,0 5 0,-15 13 0,7 0 0,-29 24 0,13-5 0,-16 20 0,-2 2 0,12-13 0,1-4 0,0-1 0,-2-7 0,5 7 0,-1 0 0,-5-7 0,4 14 0,1-13 0,8-7 0,0-6 0,5-7 0,2-9 0,4-1 0,3-5 0,-2 1 0,6 0 0,-2-4 0,3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6T18:43:10.6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7427.92969"/>
      <inkml:brushProperty name="anchorY" value="-47119.91797"/>
      <inkml:brushProperty name="scaleFactor" value="0.5"/>
    </inkml:brush>
  </inkml:definitions>
  <inkml:trace contextRef="#ctx0" brushRef="#br0">217 1 24575,'0'41'0,"-5"2"0,4 42 0,-22-4-1084,8 8 1084,-16-1 0,5 1 0,8-27 355,0 12-355,-2-29 179,7 5-179,-7-10 0,15-12 0,-7-5 550,10-5-550,-6-6 0,18-5 0,11 12 0,20 9 0,12 13 0,-7-1 0,30 25 0,-31-22 0,25 17 0,-37-24 0,-4-14 0,-11-1 0,-5-12 0,-1 3 0,-5-5 0,1-2 0,0 1 0,-4-5 0,-1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6T18:43:11.88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3552.92969"/>
      <inkml:brushProperty name="anchorY" value="-56833.19922"/>
      <inkml:brushProperty name="scaleFactor" value="0.5"/>
    </inkml:brush>
  </inkml:definitions>
  <inkml:trace contextRef="#ctx0" brushRef="#br0">0 10 24575,'30'0'0,"15"0"0,30 0 0,-6 0 0,7 0-2418,-2 0 0,4 0 2418,-6 0 0,4 0 0,0 0-941,-3 0 0,-2 0 1,5 0 940,17 0 0,4 0 0,3 0 0,-20 1 0,2-1 0,1 0 0,2-1-559,11-1 0,3-2 0,1 1 0,0 2 559,-1 5 0,1 3 0,-1 1 0,1 0 0,0-1 0,2 0 0,-3 2 0,-6 2 0,1 6 0,-5 2 0,0 3-540,-12-2 1,1 2-1,-1 0 1,-6-1 539,-4 0 0,-4-1 0,-1 1 162,28 9 0,-1 0-162,3 2 0,-8-3 1681,-4 4-1681,-24-12 0,-3 0 3773,13 8-3773,-18-12 3638,-19 0-3638,-11-7 1816,-6 2-1816,-5-8 820,-2 3-820,-2-3 0,-3 3 0,0-3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6T18:48:14.59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5 2333 24112,'0'-2'0,"-4"-14"230,19-27-230,9-40 0,14 5-1173,5-7 1,1-2 1172,-18 41 0,1-1 0,6-15 0,5-9 0,-1 6-842,10 0 1,0 1 841,-11 7 0,1-3 0,2 1 0,9-4 0,2 1 0,0 2 0,-7 8 0,-1 1 0,1 0 0,2-7 0,1 0 0,1 4 0,19-9 0,1 3 0,-2-4 0,0 2 0,1 8 0,2 5 0,0 8 0,-1 3 0,-4 1 0,0 3-533,-3 8 1,0 2 532,-1-1 0,0 1-289,-5-1 0,0 3 289,0 4 0,0 1 0,1 0 0,-2 1 0,25-8 0,-26 14 0,-3 0 0,13-11 0,33 6 1425,-22 3-1425,-1 2 2265,-10 8-2265,-13-2 1396,-7 4-1396,-9 0 780,-10-4-780,-5 3 38,-6-3-38,-4 4 0,-1 0 0,1 0 0,0 0 0,-1 0 0,1 0 0,-1 0 0,0 0 0,1 0 0,-1 0 0,1 0 0,-1 0 0,1 0 0,-1 0 0,0 0 0,0 0 0,-3 0 0,-1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6T18:48:15.88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031.38281"/>
      <inkml:brushProperty name="anchorY" value="-14590.87598"/>
      <inkml:brushProperty name="scaleFactor" value="0.5"/>
    </inkml:brush>
  </inkml:definitions>
  <inkml:trace contextRef="#ctx0" brushRef="#br0">2 8 19427,'-2'-7'0,"7"6"2388,13 7-2388,12 20 876,-5-9-876,28 26 454,-24-20-454,19 11 1430,-19-10-1430,-1-5 0,-5-5 0,4-5 0,-13-1 0,7-4 0,-12 4 0,2 0 0,-3-4 0,-4 3 0,-4-3 0,-5 7 0,-7 7 0,1 5 0,-12 6 0,7 5 0,-9 2 0,-1 12 0,4-6 0,-10 11 0,10-10 0,-5 10 0,7-10 0,-1 4 0,5-12 0,-3 4 0,8-14 0,-3 7 0,9-14 0,-2 0 0,2-6 0,1-4 0,0-1 0,4 1 0,0 0 0,-3-4 0,2 3 0,-2-7 0,3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6T18:48:20.67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3928.52734"/>
      <inkml:brushProperty name="anchorY" value="-29679.36328"/>
      <inkml:brushProperty name="scaleFactor" value="0.5"/>
    </inkml:brush>
  </inkml:definitions>
  <inkml:trace contextRef="#ctx0" brushRef="#br0">475 1 24575,'0'5'0,"-5"12"0,-11 22 0,-9 24 0,-18 14 0,23-29 0,-1 2 0,-5 2 0,0-2 0,-8 28 0,-8 6 0,15-33 0,-8 11 0,12-13 0,0-13 0,16-8 0,-9-6 0,14-8 0,-14 3 0,14 0 0,-13-3 0,9 8 0,-2-5 0,-4 0 0,7-4 0,-4 3 0,3-7 0,5 3 0,-3-5 0,4 1 0,3-1 0,1-2 0,13 2 0,5 1 0,1 6 0,7 4 0,-7 0 0,5 0 0,1 6 0,-1-4 0,9 11 0,-6-6 0,5 7 0,-5-1 0,-2-6 0,-4-2 0,-3-5 0,-5-5 0,-5-1 0,0-4 0,-4 0 0,0 0 0,-1-1 0,1 1 0,-1-4 0,1 2 0,-1-5 0,-3 6 0,3-6 0,-6 2 0,2-3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6T18:48:21.82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0203.63672"/>
      <inkml:brushProperty name="anchorY" value="-44919.82813"/>
      <inkml:brushProperty name="scaleFactor" value="0.5"/>
    </inkml:brush>
  </inkml:definitions>
  <inkml:trace contextRef="#ctx0" brushRef="#br0">1 185 24575,'22'0'0,"-2"0"0,25-5 0,6-6 0,13-8 0,23-12 0,5 10-643,-39 8 1,2 0 642,3 2 0,2 2 0,-1 5 0,2-1 0,3-8 0,1 0 0,0 11 0,-1 1 0,-4-6 0,0 1 0,4 5 0,-1 2 0,-8-1 0,0 0 0,8 0 0,1 0 0,-3 0 0,-2 0 0,-3-1 0,-1 2 0,3 6 0,-1 4 0,-7 1 0,0 5 0,10 9 0,1 5 0,-4 1 0,0 1 0,5 0 0,-2-1 0,22 21 0,-16-9 0,-4 0 0,-10-1 0,16 15 0,0 4 0,-12 0 0,-12-14 0,-2 3 0,9 31 25,0 4-25,-19-18 0,10 10 0,-20-28 0,6 13 0,-5-8 0,-7-7 0,4-6 956,-10-8-956,3-11 304,-4-1-304,-4-9 0,-1-2 0,-4-3 0,0 0 0,0 0 0,0-1 0,0 1 0,0-1 0,0 1 0,-3-4 0,2-1 0,-2-3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6T18:50:08.59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9203.40625"/>
      <inkml:brushProperty name="anchorY" value="-61064.82031"/>
      <inkml:brushProperty name="scaleFactor" value="0.5"/>
    </inkml:brush>
  </inkml:definitions>
  <inkml:trace contextRef="#ctx0" brushRef="#br0">1 1260 24575,'72'-10'0,"1"0"0,-1 0 0,7-3 0,-1-1 0,-20 2 0,-21 3 0,12-11 0,2-2 0,-2 11 0,36-24 0,-33 7 0,19-10 0,-19-2 0,16-14 0,-2 4 0,-2-14-565,-28 26 0,-1-1 565,29-34 0,-31 31 0,-1 0 0,18-20 0,10-11 0,-17 19 0,13-21 0,-10 21 370,-4-10-370,-5 25 187,-10-7-187,-3 20 0,-6-2 0,-4 11 573,-2 4-573,-4 1 0,-1 4 0,1 4 0,-4-3 0,0 7 0,-4-4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6T18:50:10.17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5784.10938"/>
      <inkml:brushProperty name="anchorY" value="-71815.23438"/>
      <inkml:brushProperty name="scaleFactor" value="0.5"/>
    </inkml:brush>
  </inkml:definitions>
  <inkml:trace contextRef="#ctx0" brushRef="#br0">1 11 24575,'15'0'0,"6"0"0,2 0 0,23 0 0,-13 0 0,18-5 0,-26 4 0,2-4 0,-9 5 0,-6 0 0,0 0 0,-4 0 0,-1 0 0,0 0 0,0 0 0,1 0 0,-5 6 0,5 8 0,-3 8 0,4 6 0,0 8 0,0-6 0,-4-4 0,-1-5 0,-4-12 0,4 3 0,-3-5 0,2 1 0,-3-4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4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4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68921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329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0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82959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1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02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A66E314-BAAB-6D4A-B8E1-9601BF15E75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A87710A-FFE9-0543-AECC-D14D5031919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1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customXml" Target="../ink/ink2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10.xml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customXml" Target="../ink/ink8.xml"/><Relationship Id="rId1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1FC9-847F-74EF-E1C4-39BDF8F13B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dirty="0"/>
              <a:t>Scaling Techniques and Topic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58A38-616D-4493-C500-DA3DC0E35E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Sebastián Vallejo Vera</a:t>
            </a:r>
          </a:p>
        </p:txBody>
      </p:sp>
    </p:spTree>
    <p:extLst>
      <p:ext uri="{BB962C8B-B14F-4D97-AF65-F5344CB8AC3E}">
        <p14:creationId xmlns:p14="http://schemas.microsoft.com/office/powerpoint/2010/main" val="428790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BCAD-B3F2-ECD8-87D6-CC65F8D2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our focus…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C78B7-AEB2-2A7E-6308-34C3A5351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 have been obsessing over tokens (e.g., frequency, dictionaries, complexity) as observable manifestations of concepts. Now we turn to measures that:</a:t>
            </a:r>
          </a:p>
          <a:p>
            <a:pPr lvl="1"/>
            <a:r>
              <a:rPr lang="en-US" dirty="0"/>
              <a:t>Position texts in vector space</a:t>
            </a:r>
          </a:p>
          <a:p>
            <a:pPr lvl="1"/>
            <a:r>
              <a:rPr lang="en-US" dirty="0"/>
              <a:t>Derive measures of </a:t>
            </a:r>
            <a:r>
              <a:rPr lang="en-US" i="1" dirty="0"/>
              <a:t>n</a:t>
            </a:r>
            <a:r>
              <a:rPr lang="en-US" dirty="0"/>
              <a:t> latent dimensions based on attributes of </a:t>
            </a:r>
            <a:r>
              <a:rPr lang="en-US" i="1" dirty="0"/>
              <a:t>j</a:t>
            </a:r>
            <a:r>
              <a:rPr lang="en-US" dirty="0"/>
              <a:t> documents:</a:t>
            </a:r>
          </a:p>
          <a:p>
            <a:pPr lvl="2"/>
            <a:r>
              <a:rPr lang="en-US" dirty="0"/>
              <a:t>For example, ideological placement of parliamentarians based on what they say on the floor.</a:t>
            </a:r>
          </a:p>
          <a:p>
            <a:pPr lvl="2"/>
            <a:r>
              <a:rPr lang="en-US" dirty="0"/>
              <a:t>For example, bias of newspapers using text from editorials. </a:t>
            </a:r>
          </a:p>
        </p:txBody>
      </p:sp>
    </p:spTree>
    <p:extLst>
      <p:ext uri="{BB962C8B-B14F-4D97-AF65-F5344CB8AC3E}">
        <p14:creationId xmlns:p14="http://schemas.microsoft.com/office/powerpoint/2010/main" val="3725279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F626-DC7F-1CDE-13D9-A47161D3C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6ED-105D-2FDE-7288-10C638C7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ways to scales text:</a:t>
            </a:r>
          </a:p>
          <a:p>
            <a:pPr lvl="1"/>
            <a:r>
              <a:rPr lang="en-US" dirty="0"/>
              <a:t>Supervised scaling techniques</a:t>
            </a:r>
          </a:p>
          <a:p>
            <a:pPr lvl="1"/>
            <a:r>
              <a:rPr lang="en-US" dirty="0"/>
              <a:t>Unsupervised scaling techniques</a:t>
            </a:r>
          </a:p>
        </p:txBody>
      </p:sp>
    </p:spTree>
    <p:extLst>
      <p:ext uri="{BB962C8B-B14F-4D97-AF65-F5344CB8AC3E}">
        <p14:creationId xmlns:p14="http://schemas.microsoft.com/office/powerpoint/2010/main" val="3672772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8E65E-E515-2C77-0FA6-15DACF11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0ECD-F33F-5957-47B7-2D1DB8B0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7C171-06B3-FB6D-5C84-C2AC03C79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ways to scales text:</a:t>
            </a:r>
          </a:p>
          <a:p>
            <a:pPr lvl="1"/>
            <a:r>
              <a:rPr lang="en-US" dirty="0"/>
              <a:t>Supervised scaling techniques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Unsupervised scaling techniques</a:t>
            </a:r>
          </a:p>
        </p:txBody>
      </p:sp>
    </p:spTree>
    <p:extLst>
      <p:ext uri="{BB962C8B-B14F-4D97-AF65-F5344CB8AC3E}">
        <p14:creationId xmlns:p14="http://schemas.microsoft.com/office/powerpoint/2010/main" val="1440897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AE76-1C7C-1D67-C029-85128E67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A3D7B-0691-E950-940D-D31FC5BFD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1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E476-0B02-4D55-0F0D-5A252A73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0FEDD-538E-864E-4B69-BC5DAF411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b="1" dirty="0"/>
              <a:t>Data</a:t>
            </a:r>
            <a:r>
              <a:rPr lang="en-CA" dirty="0"/>
              <a:t>: humans, documents, votes, etc. are not pre-labelled in terms of some underlying concept.</a:t>
            </a:r>
          </a:p>
          <a:p>
            <a:r>
              <a:rPr lang="en-CA" dirty="0"/>
              <a:t>Think about congressional speeches, we know the author, their party, other metadata, but: </a:t>
            </a:r>
          </a:p>
          <a:p>
            <a:pPr lvl="1"/>
            <a:r>
              <a:rPr lang="en-CA" dirty="0"/>
              <a:t>We don’t yet know what that speech ‘represents’ in terms of its latent properties, what ‘kind’ of speech it is, what ‘topics’ it covers, what speeches it is similar to conceptually, etc.</a:t>
            </a:r>
          </a:p>
          <a:p>
            <a:r>
              <a:rPr lang="en-CA" b="1" dirty="0"/>
              <a:t>Goal</a:t>
            </a:r>
            <a:r>
              <a:rPr lang="en-CA" dirty="0"/>
              <a:t>: take the observations and find hidden structure and meaning in them</a:t>
            </a:r>
          </a:p>
          <a:p>
            <a:pPr lvl="1"/>
            <a:r>
              <a:rPr lang="en-CA" dirty="0"/>
              <a:t>similarity</a:t>
            </a:r>
          </a:p>
          <a:p>
            <a:pPr lvl="1"/>
            <a:r>
              <a:rPr lang="en-CA" dirty="0"/>
              <a:t>groups</a:t>
            </a:r>
          </a:p>
          <a:p>
            <a:pPr lvl="1"/>
            <a:r>
              <a:rPr lang="en-CA" dirty="0"/>
              <a:t>topics</a:t>
            </a:r>
          </a:p>
          <a:p>
            <a:pPr lvl="1"/>
            <a:r>
              <a:rPr lang="en-CA" dirty="0"/>
              <a:t>association between word, </a:t>
            </a:r>
            <a:r>
              <a:rPr lang="en-CA" dirty="0" err="1"/>
              <a:t>etc</a:t>
            </a:r>
            <a:r>
              <a:rPr lang="en-CA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5889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1155-6CD5-4061-A5FC-E9691633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Challenges: Hard to get it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89C23-D83B-A778-25DB-03F3DAD7D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Unsupervised learning requires several </a:t>
            </a:r>
            <a:r>
              <a:rPr lang="en-CA" b="1" dirty="0"/>
              <a:t>ad-hoc</a:t>
            </a:r>
            <a:r>
              <a:rPr lang="en-CA" dirty="0"/>
              <a:t> decisions, and these decisions matter for quality of your results</a:t>
            </a:r>
          </a:p>
          <a:p>
            <a:pPr lvl="1"/>
            <a:r>
              <a:rPr lang="en-CA" dirty="0"/>
              <a:t>number of clusters</a:t>
            </a:r>
          </a:p>
          <a:p>
            <a:pPr lvl="1"/>
            <a:r>
              <a:rPr lang="en-CA" dirty="0"/>
              <a:t>number of topics</a:t>
            </a:r>
          </a:p>
          <a:p>
            <a:pPr lvl="1"/>
            <a:r>
              <a:rPr lang="en-CA" dirty="0"/>
              <a:t>pre-processing steps</a:t>
            </a:r>
          </a:p>
          <a:p>
            <a:r>
              <a:rPr lang="en-CA" dirty="0"/>
              <a:t>Domain knowledge (and honestly a bit of randomness) guides a lot of these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80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F641-5BF1-55F1-105A-E016D1E8F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Challenges: Hard to know if you are doing it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D9F27-7755-CF89-AFB1-CD61337B1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contrast to supervised approaches, we won’t know ‘how correct’ the output is.</a:t>
            </a:r>
          </a:p>
          <a:p>
            <a:r>
              <a:rPr lang="en-CA" dirty="0"/>
              <a:t>Ther are some statistical measures that gives us some idea of performance, but in general, it will involve a huge amount of qualitative assessment (i.e., validation).</a:t>
            </a:r>
          </a:p>
          <a:p>
            <a:r>
              <a:rPr lang="en-CA" dirty="0"/>
              <a:t>No easy measure of accuracy, recall and precision (note: see next week on supervised model).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521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010A37-EFF4-7A30-6543-2618BEADE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scaling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7FA01-D6D0-D71D-F866-14EBBB523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10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FCC47F-D221-7FCC-BB4E-869B9EF5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14E2B5-95B9-AAF3-1DBC-C4A26F107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think about each document as a vector of word counts (</a:t>
            </a:r>
            <a:r>
              <a:rPr lang="en-US" i="1" dirty="0" err="1"/>
              <a:t>dfm</a:t>
            </a:r>
            <a:r>
              <a:rPr lang="en-US" dirty="0"/>
              <a:t>). We can assume that the placement of each word within the text is distributed at random. </a:t>
            </a:r>
          </a:p>
          <a:p>
            <a:pPr lvl="1"/>
            <a:r>
              <a:rPr lang="en-US" dirty="0"/>
              <a:t>This is clearly false, but that is a basic assumption of the bag-of-words approach. </a:t>
            </a:r>
          </a:p>
          <a:p>
            <a:r>
              <a:rPr lang="en-US" dirty="0"/>
              <a:t>We can also think what distribution most accurately approximate word usage: Poisson, negative-binomial, etc.  </a:t>
            </a:r>
          </a:p>
        </p:txBody>
      </p:sp>
    </p:spTree>
    <p:extLst>
      <p:ext uri="{BB962C8B-B14F-4D97-AF65-F5344CB8AC3E}">
        <p14:creationId xmlns:p14="http://schemas.microsoft.com/office/powerpoint/2010/main" val="277619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560BA5-56B4-481C-84E3-57966EAF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Slapin</a:t>
            </a:r>
            <a:r>
              <a:rPr lang="en-US" dirty="0"/>
              <a:t> and </a:t>
            </a:r>
            <a:r>
              <a:rPr lang="en-US" dirty="0" err="1"/>
              <a:t>Proksch’s</a:t>
            </a:r>
            <a:r>
              <a:rPr lang="en-US" dirty="0"/>
              <a:t> (2008) </a:t>
            </a:r>
            <a:r>
              <a:rPr lang="en-US" dirty="0" err="1"/>
              <a:t>wordfish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06AAD0-C7C6-9CF5-B948-EDFD32D45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874517"/>
            <a:ext cx="4674152" cy="47876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B072F0-D3CF-46AD-6C36-6B1A33E7D383}"/>
              </a:ext>
            </a:extLst>
          </p:cNvPr>
          <p:cNvSpPr txBox="1"/>
          <p:nvPr/>
        </p:nvSpPr>
        <p:spPr>
          <a:xfrm>
            <a:off x="6440558" y="2597426"/>
            <a:ext cx="5194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⍺ is the logged ratio of the mean word count for a document relative to first document in the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45E91-B82D-7C56-69DB-BEBE42C14253}"/>
              </a:ext>
            </a:extLst>
          </p:cNvPr>
          <p:cNvSpPr txBox="1"/>
          <p:nvPr/>
        </p:nvSpPr>
        <p:spPr>
          <a:xfrm>
            <a:off x="6440558" y="3260610"/>
            <a:ext cx="519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aramond" panose="02020404030301010803" pitchFamily="18" charset="0"/>
              </a:rPr>
              <a:t>ψ</a:t>
            </a:r>
            <a:r>
              <a:rPr lang="en-US" dirty="0">
                <a:latin typeface="Garamond" panose="02020404030301010803" pitchFamily="18" charset="0"/>
              </a:rPr>
              <a:t> is the logged mean of word frequency.</a:t>
            </a:r>
          </a:p>
        </p:txBody>
      </p:sp>
    </p:spTree>
    <p:extLst>
      <p:ext uri="{BB962C8B-B14F-4D97-AF65-F5344CB8AC3E}">
        <p14:creationId xmlns:p14="http://schemas.microsoft.com/office/powerpoint/2010/main" val="3219625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03CE3-9E12-A801-C2A7-8251DE24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01016-83E6-09FB-AFAF-23388575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assumption here is that, indeed, </a:t>
            </a:r>
            <a:r>
              <a:rPr lang="en-US" dirty="0" err="1"/>
              <a:t>λ</a:t>
            </a:r>
            <a:r>
              <a:rPr lang="en-US" dirty="0"/>
              <a:t> is generated by the parameters proposed by </a:t>
            </a:r>
            <a:r>
              <a:rPr lang="en-US" dirty="0" err="1"/>
              <a:t>Slapin</a:t>
            </a:r>
            <a:r>
              <a:rPr lang="en-US" dirty="0"/>
              <a:t> and </a:t>
            </a:r>
            <a:r>
              <a:rPr lang="en-US" dirty="0" err="1"/>
              <a:t>Proksch</a:t>
            </a:r>
            <a:r>
              <a:rPr lang="en-US" dirty="0"/>
              <a:t> (2008). </a:t>
            </a:r>
          </a:p>
          <a:p>
            <a:r>
              <a:rPr lang="en-US" dirty="0"/>
              <a:t>For example, that β is good at discriminating documents across an a priori assumed dimension:</a:t>
            </a:r>
          </a:p>
        </p:txBody>
      </p:sp>
    </p:spTree>
    <p:extLst>
      <p:ext uri="{BB962C8B-B14F-4D97-AF65-F5344CB8AC3E}">
        <p14:creationId xmlns:p14="http://schemas.microsoft.com/office/powerpoint/2010/main" val="2416718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DC0B2-55FC-4008-946A-2903B8D89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577" y="796343"/>
            <a:ext cx="5146845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1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3026-4A0A-558B-7A6E-6C84449D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889F1-FD27-0809-A9D7-F1EC7A2DB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71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3082-1476-CF85-A7FB-EA7A0863E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2E0E9-0C72-D58A-1B97-11165D527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Purpose</a:t>
            </a:r>
            <a:r>
              <a:rPr lang="en-CA" dirty="0"/>
              <a:t>: look for ‘groups’ in data explicitly.</a:t>
            </a:r>
          </a:p>
          <a:p>
            <a:pPr lvl="1"/>
            <a:r>
              <a:rPr lang="en-CA" dirty="0"/>
              <a:t>Input: text + number of clusters</a:t>
            </a:r>
          </a:p>
          <a:p>
            <a:pPr lvl="1"/>
            <a:r>
              <a:rPr lang="en-CA" dirty="0"/>
              <a:t>Output: documents ~&gt; clusters</a:t>
            </a:r>
          </a:p>
          <a:p>
            <a:r>
              <a:rPr lang="en-CA" b="1" dirty="0"/>
              <a:t>Clusters:</a:t>
            </a:r>
            <a:r>
              <a:rPr lang="en-CA" dirty="0"/>
              <a:t> group of data points that are all nearby to each other and far away from other clusters.</a:t>
            </a:r>
          </a:p>
          <a:p>
            <a:r>
              <a:rPr lang="en-CA" b="1" dirty="0"/>
              <a:t>Research Questions?</a:t>
            </a:r>
            <a:r>
              <a:rPr lang="en-CA" dirty="0"/>
              <a:t> How can we categorize these news articles or policy bills? How can we group these legislators based on their speeches?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028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E2C0D-9C96-E851-6126-E217E4B9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A9713-46DE-D0CB-70EC-B10A43968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K-Means clustering:</a:t>
            </a:r>
            <a:r>
              <a:rPr lang="en-CA" dirty="0"/>
              <a:t> partition the documents into a set of K categories where documents with similar rates of word usage are assigned to the same cluster and dissimilar documents (with dissimilar rates of word usage) are assigned to different categories: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Pre-specify cluster numbers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Algorithm puts observations into clusters which minimize the within-cluster sum of squares (i.e., sum of squared Euclidean distances between each data point and its assigned cluster centroid)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Objective function to minimize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105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5F447-5B13-EF40-D145-A2C72B5C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Steps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A7CD52-436C-D68F-AE62-83D7D404C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CA" b="1" dirty="0">
                    <a:solidFill>
                      <a:schemeClr val="accent1"/>
                    </a:solidFill>
                  </a:rPr>
                  <a:t>Initialize Clusters </a:t>
                </a:r>
                <a:r>
                  <a:rPr lang="en-CA" dirty="0"/>
                  <a:t>centroids randomly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CA" dirty="0"/>
                  <a:t>)</a:t>
                </a:r>
              </a:p>
              <a:p>
                <a:r>
                  <a:rPr lang="en-CA" b="1" dirty="0">
                    <a:solidFill>
                      <a:schemeClr val="accent1"/>
                    </a:solidFill>
                  </a:rPr>
                  <a:t>Assign Documents </a:t>
                </a:r>
                <a:r>
                  <a:rPr lang="en-CA" dirty="0"/>
                  <a:t>to nearest centroid clusters using Euclidean distance.</a:t>
                </a:r>
              </a:p>
              <a:p>
                <a:r>
                  <a:rPr lang="en-CA" b="1" dirty="0">
                    <a:solidFill>
                      <a:schemeClr val="accent1"/>
                    </a:solidFill>
                  </a:rPr>
                  <a:t>Calculate Loss Function</a:t>
                </a:r>
                <a:r>
                  <a:rPr lang="en-CA" dirty="0">
                    <a:solidFill>
                      <a:schemeClr val="accent1"/>
                    </a:solidFill>
                  </a:rPr>
                  <a:t> </a:t>
                </a:r>
                <a:r>
                  <a:rPr lang="en-CA" dirty="0"/>
                  <a:t>between points and their clusters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endParaRPr lang="en-CA" dirty="0"/>
              </a:p>
              <a:p>
                <a:r>
                  <a:rPr lang="en-CA" b="1" dirty="0">
                    <a:solidFill>
                      <a:schemeClr val="accent1"/>
                    </a:solidFill>
                  </a:rPr>
                  <a:t>Update centroids</a:t>
                </a:r>
              </a:p>
              <a:p>
                <a:endParaRPr lang="en-CA" b="1" dirty="0">
                  <a:solidFill>
                    <a:schemeClr val="accent1"/>
                  </a:solidFill>
                </a:endParaRPr>
              </a:p>
              <a:p>
                <a:endParaRPr lang="en-CA" b="1" dirty="0">
                  <a:solidFill>
                    <a:schemeClr val="accent1"/>
                  </a:solidFill>
                </a:endParaRPr>
              </a:p>
              <a:p>
                <a:endParaRPr lang="en-CA" b="1" dirty="0">
                  <a:solidFill>
                    <a:schemeClr val="accent1"/>
                  </a:solidFill>
                </a:endParaRPr>
              </a:p>
              <a:p>
                <a:r>
                  <a:rPr lang="en-CA" dirty="0"/>
                  <a:t>Repeat (from bullet point 2) until convergence.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A7CD52-436C-D68F-AE62-83D7D404C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9" t="-1408" b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B4D9E2A-9CD9-58E6-33B5-FE800FB3B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488" y="3429000"/>
            <a:ext cx="2526942" cy="835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B08F96-F69B-919D-6936-5BE5FD6E5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488" y="4571999"/>
            <a:ext cx="2526942" cy="83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24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C01FCA-382E-6164-D0F7-BCD504A78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35" y="1033618"/>
            <a:ext cx="10587330" cy="479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65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69EE-9F39-5387-7F92-C93DAC05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(Unsupervised) </a:t>
            </a:r>
            <a:br>
              <a:rPr lang="en-US" sz="7200" dirty="0"/>
            </a:br>
            <a:r>
              <a:rPr lang="en-US" sz="7200" dirty="0"/>
              <a:t>Topic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5165C-A937-699A-37CE-A34AE405F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43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CC29FF-2263-D0F9-4C87-D179FA87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D261AC-07B0-9952-BAE3-AD18DA6C7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Topics models can be thought as a probabilistic generalization of clustering methods.</a:t>
            </a:r>
            <a:endParaRPr lang="en-US" dirty="0"/>
          </a:p>
          <a:p>
            <a:r>
              <a:rPr lang="en-CA" b="1" dirty="0">
                <a:solidFill>
                  <a:schemeClr val="accent1"/>
                </a:solidFill>
              </a:rPr>
              <a:t>Clustering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Every document is assigned to a cluster that minimizes a cost function</a:t>
            </a:r>
          </a:p>
          <a:p>
            <a:r>
              <a:rPr lang="en-CA" b="1" dirty="0">
                <a:solidFill>
                  <a:schemeClr val="accent1"/>
                </a:solidFill>
              </a:rPr>
              <a:t>Topic Models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every document has a probability distribution of topics.</a:t>
            </a:r>
          </a:p>
          <a:p>
            <a:pPr lvl="1"/>
            <a:r>
              <a:rPr lang="en-CA" dirty="0"/>
              <a:t>every topic has a probability distribution of words.</a:t>
            </a:r>
          </a:p>
          <a:p>
            <a:pPr lvl="1"/>
            <a:r>
              <a:rPr lang="en-CA" dirty="0"/>
              <a:t>We use likelihood estimation to find the parameters of these distributions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243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2BD1-B16D-7178-8D10-6A6C83AA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Roberts et al.’s (2014) Structural Topic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4BB1E-FA36-9F7F-B124-8F7A47101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 models are a broad class of Bayesian generative models that encode problem-specific structure into an estimation of categories (Grimmer and Stewart 2013; Blei et al. 2010). </a:t>
            </a:r>
          </a:p>
          <a:p>
            <a:r>
              <a:rPr lang="en-US" dirty="0"/>
              <a:t>Statistically, a topic is a probability mass function* over words. </a:t>
            </a:r>
          </a:p>
          <a:p>
            <a:r>
              <a:rPr lang="en-US" dirty="0"/>
              <a:t>The idea of topic models is that each document exhibits a topic in some proportion: each document is a distribution over topics, and each topic is a distribution over words.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B449A5-8A08-9ACC-4B83-A6D2556A6E95}"/>
              </a:ext>
            </a:extLst>
          </p:cNvPr>
          <p:cNvSpPr txBox="1"/>
          <p:nvPr/>
        </p:nvSpPr>
        <p:spPr>
          <a:xfrm>
            <a:off x="6630737" y="6291076"/>
            <a:ext cx="4799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Same as a PDF but for discrete random variable</a:t>
            </a:r>
          </a:p>
        </p:txBody>
      </p:sp>
    </p:spTree>
    <p:extLst>
      <p:ext uri="{BB962C8B-B14F-4D97-AF65-F5344CB8AC3E}">
        <p14:creationId xmlns:p14="http://schemas.microsoft.com/office/powerpoint/2010/main" val="4076449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1841-B78D-31D3-DBC9-0620995C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014382-805A-F744-D757-6EFFA9AA3A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Take a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such that: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documents: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topics: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014382-805A-F744-D757-6EFFA9AA3A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64159A1-F20F-4186-E9DD-419DC4864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903" y="2375020"/>
            <a:ext cx="5221097" cy="35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70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A376-0928-BD1B-6458-187229321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948EDA-30D2-FA1C-9AC8-0A13E61212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Take a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such that: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words: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topics: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948EDA-30D2-FA1C-9AC8-0A13E61212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10FD6F4-D10E-4179-EEDD-71A802605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283" y="2286000"/>
            <a:ext cx="5353717" cy="359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17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F251-41CE-ED5A-DFB6-F6A2EA429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62DA5-2EB6-7411-3BC0-16602A362E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assume that for each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in our corpus, we know the probability that it belongs to topic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Now let’s assume that for each topic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we know the probability of appearing in a document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CA" b="0" dirty="0"/>
              </a:p>
              <a:p>
                <a:r>
                  <a:rPr lang="en-US" dirty="0"/>
                  <a:t>Then…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62DA5-2EB6-7411-3BC0-16602A362E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8" t="-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15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7E4BFB-1AE2-F4F5-92D7-1F9815886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089" y="2534754"/>
            <a:ext cx="3193281" cy="21434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F6134A-36C9-4A43-3BD8-3A92982CE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464" y="2534754"/>
            <a:ext cx="3193281" cy="21434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D8FBDB-CF22-6AE9-7512-2D003C270B76}"/>
              </a:ext>
            </a:extLst>
          </p:cNvPr>
          <p:cNvSpPr txBox="1"/>
          <p:nvPr/>
        </p:nvSpPr>
        <p:spPr>
          <a:xfrm>
            <a:off x="5841331" y="342180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B3069-A24E-D82A-4B86-A6364959B989}"/>
              </a:ext>
            </a:extLst>
          </p:cNvPr>
          <p:cNvSpPr txBox="1"/>
          <p:nvPr/>
        </p:nvSpPr>
        <p:spPr>
          <a:xfrm>
            <a:off x="9518706" y="3421805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A16BE4-9201-9C3C-B376-9942AC9C1A77}"/>
                  </a:ext>
                </a:extLst>
              </p:cNvPr>
              <p:cNvSpPr txBox="1"/>
              <p:nvPr/>
            </p:nvSpPr>
            <p:spPr>
              <a:xfrm>
                <a:off x="9838024" y="3421805"/>
                <a:ext cx="67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𝑑𝑡𝑚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A16BE4-9201-9C3C-B376-9942AC9C1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024" y="3421805"/>
                <a:ext cx="6711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289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F444-6B4E-D477-06A0-0BFB7CCA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AB3D2-596D-10F4-EBB7-85700B48B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BUT…</a:t>
            </a:r>
          </a:p>
          <a:p>
            <a:pPr lvl="1"/>
            <a:r>
              <a:rPr lang="en-US" dirty="0"/>
              <a:t>We need to </a:t>
            </a:r>
            <a:r>
              <a:rPr lang="en-US" b="1" dirty="0"/>
              <a:t>estimate</a:t>
            </a:r>
            <a:r>
              <a:rPr lang="en-US" dirty="0"/>
              <a:t> the probability a </a:t>
            </a:r>
            <a:r>
              <a:rPr lang="en-US" dirty="0">
                <a:solidFill>
                  <a:schemeClr val="accent1"/>
                </a:solidFill>
              </a:rPr>
              <a:t>word</a:t>
            </a:r>
            <a:r>
              <a:rPr lang="en-US" dirty="0"/>
              <a:t> comes from a topic</a:t>
            </a:r>
          </a:p>
          <a:p>
            <a:pPr lvl="1"/>
            <a:r>
              <a:rPr lang="en-US" dirty="0"/>
              <a:t>We need to </a:t>
            </a:r>
            <a:r>
              <a:rPr lang="en-US" b="1" dirty="0"/>
              <a:t>estimate</a:t>
            </a:r>
            <a:r>
              <a:rPr lang="en-US" dirty="0"/>
              <a:t> the probability a topic appears in a </a:t>
            </a:r>
            <a:r>
              <a:rPr lang="en-US" dirty="0">
                <a:solidFill>
                  <a:schemeClr val="accent1"/>
                </a:solidFill>
              </a:rPr>
              <a:t>document</a:t>
            </a:r>
          </a:p>
          <a:p>
            <a:pPr lvl="1"/>
            <a:r>
              <a:rPr lang="en-US" dirty="0"/>
              <a:t>By only observing </a:t>
            </a:r>
            <a:r>
              <a:rPr lang="en-US" dirty="0">
                <a:solidFill>
                  <a:schemeClr val="accent1"/>
                </a:solidFill>
              </a:rPr>
              <a:t>words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documents</a:t>
            </a:r>
            <a:r>
              <a:rPr lang="en-US" b="1" dirty="0"/>
              <a:t>.</a:t>
            </a:r>
          </a:p>
          <a:p>
            <a:pPr lvl="1"/>
            <a:r>
              <a:rPr lang="en-US" dirty="0"/>
              <a:t>And our only input is the number of topics we ask the model to finds</a:t>
            </a:r>
          </a:p>
          <a:p>
            <a:pPr lvl="1"/>
            <a:endParaRPr lang="en-US" dirty="0"/>
          </a:p>
          <a:p>
            <a:r>
              <a:rPr lang="en-US" dirty="0"/>
              <a:t>HOW? </a:t>
            </a:r>
          </a:p>
          <a:p>
            <a:r>
              <a:rPr lang="en-US" dirty="0">
                <a:solidFill>
                  <a:schemeClr val="accent1"/>
                </a:solidFill>
              </a:rPr>
              <a:t>Variational inference </a:t>
            </a:r>
            <a:r>
              <a:rPr lang="en-US" dirty="0"/>
              <a:t>of </a:t>
            </a:r>
            <a:r>
              <a:rPr lang="en-US" dirty="0">
                <a:solidFill>
                  <a:schemeClr val="accent1"/>
                </a:solidFill>
              </a:rPr>
              <a:t>variational Bayes inference</a:t>
            </a:r>
          </a:p>
        </p:txBody>
      </p:sp>
    </p:spTree>
    <p:extLst>
      <p:ext uri="{BB962C8B-B14F-4D97-AF65-F5344CB8AC3E}">
        <p14:creationId xmlns:p14="http://schemas.microsoft.com/office/powerpoint/2010/main" val="247103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1DB3B-DD2F-BD18-4320-3CFC19C61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727" y="535269"/>
            <a:ext cx="4636546" cy="578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47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EA20-0EA7-A49C-6BEB-FF96C282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1F8B5-3ACE-A8D7-28CD-D503EE4E1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Intuitively, we define a data generating process for each document and then use the data to find the most likely values for the parameters within the model.</a:t>
                </a:r>
              </a:p>
              <a:p>
                <a:r>
                  <a:rPr lang="en-US" dirty="0"/>
                  <a:t>The generative model begins at the top, with document-topic and topic-word distributions generating documents that have metadata associated with them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:r>
                  <a:rPr lang="en-US" i="1" dirty="0"/>
                  <a:t>d</a:t>
                </a:r>
                <a:r>
                  <a:rPr lang="en-US" dirty="0"/>
                  <a:t> indexes the documents).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1F8B5-3ACE-A8D7-28CD-D503EE4E1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8" t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220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91DB3B-DD2F-BD18-4320-3CFC19C61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727" y="535269"/>
            <a:ext cx="4636546" cy="578746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510696-2BCF-FF75-916F-FDC4389EE46A}"/>
              </a:ext>
            </a:extLst>
          </p:cNvPr>
          <p:cNvGrpSpPr/>
          <p:nvPr/>
        </p:nvGrpSpPr>
        <p:grpSpPr>
          <a:xfrm>
            <a:off x="2295064" y="1388181"/>
            <a:ext cx="1342440" cy="959040"/>
            <a:chOff x="2295064" y="1388181"/>
            <a:chExt cx="1342440" cy="9590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8AE1A4-49AD-2F6D-4DE2-15E86C850626}"/>
                    </a:ext>
                  </a:extLst>
                </p14:cNvPr>
                <p14:cNvContentPartPr/>
                <p14:nvPr/>
              </p14:nvContentPartPr>
              <p14:xfrm>
                <a:off x="2295064" y="1586541"/>
                <a:ext cx="1155600" cy="76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8AE1A4-49AD-2F6D-4DE2-15E86C85062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86424" y="1577901"/>
                  <a:ext cx="117324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9475418-53DC-0808-4C20-F35CC2F0EF85}"/>
                    </a:ext>
                  </a:extLst>
                </p14:cNvPr>
                <p14:cNvContentPartPr/>
                <p14:nvPr/>
              </p14:nvContentPartPr>
              <p14:xfrm>
                <a:off x="3347344" y="1388181"/>
                <a:ext cx="290160" cy="489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9475418-53DC-0808-4C20-F35CC2F0EF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38704" y="1379181"/>
                  <a:ext cx="307800" cy="50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C29EFF-6B52-5BEC-58D9-F9DC176CC299}"/>
              </a:ext>
            </a:extLst>
          </p:cNvPr>
          <p:cNvGrpSpPr/>
          <p:nvPr/>
        </p:nvGrpSpPr>
        <p:grpSpPr>
          <a:xfrm>
            <a:off x="8478424" y="1379541"/>
            <a:ext cx="1545120" cy="542160"/>
            <a:chOff x="8478424" y="1379541"/>
            <a:chExt cx="1545120" cy="5421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5E1A19-862A-1E0E-28D1-215D259B2960}"/>
                    </a:ext>
                  </a:extLst>
                </p14:cNvPr>
                <p14:cNvContentPartPr/>
                <p14:nvPr/>
              </p14:nvContentPartPr>
              <p14:xfrm>
                <a:off x="8478424" y="1379541"/>
                <a:ext cx="179280" cy="465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5E1A19-862A-1E0E-28D1-215D259B296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69424" y="1370901"/>
                  <a:ext cx="1969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6EA4DB8-FCB8-7C34-F3E9-706ACDE5ED21}"/>
                    </a:ext>
                  </a:extLst>
                </p14:cNvPr>
                <p14:cNvContentPartPr/>
                <p14:nvPr/>
              </p14:nvContentPartPr>
              <p14:xfrm>
                <a:off x="8512264" y="1713981"/>
                <a:ext cx="1511280" cy="207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6EA4DB8-FCB8-7C34-F3E9-706ACDE5ED2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03264" y="1704981"/>
                  <a:ext cx="1528920" cy="225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4BCEF6C-D772-0DD8-AC05-C8A6FCCEF472}"/>
              </a:ext>
            </a:extLst>
          </p:cNvPr>
          <p:cNvSpPr txBox="1"/>
          <p:nvPr/>
        </p:nvSpPr>
        <p:spPr>
          <a:xfrm>
            <a:off x="9004151" y="1966881"/>
            <a:ext cx="25280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A topic is defined as a mixture over words where each word has a probability of belonging to a topic.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903024-9D3A-FD62-E80F-0D029C375F8A}"/>
              </a:ext>
            </a:extLst>
          </p:cNvPr>
          <p:cNvSpPr txBox="1"/>
          <p:nvPr/>
        </p:nvSpPr>
        <p:spPr>
          <a:xfrm>
            <a:off x="1151689" y="2347221"/>
            <a:ext cx="25280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A document is a mixture over topics, meaning that a single document can be composed of multiple topics. </a:t>
            </a:r>
          </a:p>
        </p:txBody>
      </p:sp>
    </p:spTree>
    <p:extLst>
      <p:ext uri="{BB962C8B-B14F-4D97-AF65-F5344CB8AC3E}">
        <p14:creationId xmlns:p14="http://schemas.microsoft.com/office/powerpoint/2010/main" val="644707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EA20-0EA7-A49C-6BEB-FF96C282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1F8B5-3ACE-A8D7-28CD-D503EE4E1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Intuitively, we define a data generating process for each document and then use the data to find the most likely values for the parameters within the model.</a:t>
                </a:r>
              </a:p>
              <a:p>
                <a:r>
                  <a:rPr lang="en-US" dirty="0"/>
                  <a:t>The generative model begins at the top, with document-topic and topic-word distributions generating documents that have metadata associated with them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:r>
                  <a:rPr lang="en-US" i="1" dirty="0"/>
                  <a:t>d</a:t>
                </a:r>
                <a:r>
                  <a:rPr lang="en-US" dirty="0"/>
                  <a:t> indexes the documents). </a:t>
                </a:r>
              </a:p>
              <a:p>
                <a:r>
                  <a:rPr lang="en-US" dirty="0"/>
                  <a:t>On the bottom, we can see the topical prevalence and topical content can be a function of document metadata.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A1F8B5-3ACE-A8D7-28CD-D503EE4E1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8" t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9883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91DB3B-DD2F-BD18-4320-3CFC19C61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727" y="535269"/>
            <a:ext cx="4636546" cy="578746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92F6B1C-D453-CEEA-25F0-999F1FDB3DED}"/>
              </a:ext>
            </a:extLst>
          </p:cNvPr>
          <p:cNvGrpSpPr/>
          <p:nvPr/>
        </p:nvGrpSpPr>
        <p:grpSpPr>
          <a:xfrm>
            <a:off x="2499184" y="3434061"/>
            <a:ext cx="1163880" cy="1006920"/>
            <a:chOff x="2499184" y="3434061"/>
            <a:chExt cx="1163880" cy="10069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3195755-4DD2-1D0C-2D25-3BE305E5D9AC}"/>
                    </a:ext>
                  </a:extLst>
                </p14:cNvPr>
                <p14:cNvContentPartPr/>
                <p14:nvPr/>
              </p14:nvContentPartPr>
              <p14:xfrm>
                <a:off x="2499184" y="3601101"/>
                <a:ext cx="1084320" cy="839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3195755-4DD2-1D0C-2D25-3BE305E5D9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90544" y="3592461"/>
                  <a:ext cx="1101960" cy="8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F4D44D2-E98B-9D6D-FD88-A456D15E161C}"/>
                    </a:ext>
                  </a:extLst>
                </p14:cNvPr>
                <p14:cNvContentPartPr/>
                <p14:nvPr/>
              </p14:nvContentPartPr>
              <p14:xfrm>
                <a:off x="3525184" y="3434061"/>
                <a:ext cx="137880" cy="346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F4D44D2-E98B-9D6D-FD88-A456D15E161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16184" y="3425061"/>
                  <a:ext cx="15552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431426-D4DC-744C-2A9C-E1A5BC31FF0C}"/>
              </a:ext>
            </a:extLst>
          </p:cNvPr>
          <p:cNvGrpSpPr/>
          <p:nvPr/>
        </p:nvGrpSpPr>
        <p:grpSpPr>
          <a:xfrm>
            <a:off x="8521624" y="3329301"/>
            <a:ext cx="1173240" cy="831960"/>
            <a:chOff x="8521624" y="3329301"/>
            <a:chExt cx="1173240" cy="8319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E5761E6-30F1-CC48-1770-B1A93C315306}"/>
                    </a:ext>
                  </a:extLst>
                </p14:cNvPr>
                <p14:cNvContentPartPr/>
                <p14:nvPr/>
              </p14:nvContentPartPr>
              <p14:xfrm>
                <a:off x="8521624" y="3329301"/>
                <a:ext cx="190080" cy="506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E5761E6-30F1-CC48-1770-B1A93C31530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12624" y="3320661"/>
                  <a:ext cx="20772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6C8DB66-4BCF-7E5A-4270-90C2DA861082}"/>
                    </a:ext>
                  </a:extLst>
                </p14:cNvPr>
                <p14:cNvContentPartPr/>
                <p14:nvPr/>
              </p14:nvContentPartPr>
              <p14:xfrm>
                <a:off x="8564824" y="3643941"/>
                <a:ext cx="1130040" cy="517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6C8DB66-4BCF-7E5A-4270-90C2DA86108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56184" y="3634941"/>
                  <a:ext cx="1147680" cy="534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F154AB4-169F-28D9-5BAC-E5008123161F}"/>
              </a:ext>
            </a:extLst>
          </p:cNvPr>
          <p:cNvSpPr txBox="1"/>
          <p:nvPr/>
        </p:nvSpPr>
        <p:spPr>
          <a:xfrm>
            <a:off x="1439781" y="4440981"/>
            <a:ext cx="21437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Topical prevalence refers to how much of a document is associated with a topic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20CEBC-32F7-90D5-1198-176F55B94CA4}"/>
              </a:ext>
            </a:extLst>
          </p:cNvPr>
          <p:cNvSpPr txBox="1"/>
          <p:nvPr/>
        </p:nvSpPr>
        <p:spPr>
          <a:xfrm>
            <a:off x="8875109" y="4193400"/>
            <a:ext cx="2143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Topical content refers to the words used within a topic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4C49E7-3868-5608-A7AE-6872C3B05823}"/>
              </a:ext>
            </a:extLst>
          </p:cNvPr>
          <p:cNvSpPr/>
          <p:nvPr/>
        </p:nvSpPr>
        <p:spPr>
          <a:xfrm>
            <a:off x="7282927" y="2560320"/>
            <a:ext cx="903642" cy="15060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7590860-8DF4-29FF-3B30-1793681C7B65}"/>
              </a:ext>
            </a:extLst>
          </p:cNvPr>
          <p:cNvGrpSpPr/>
          <p:nvPr/>
        </p:nvGrpSpPr>
        <p:grpSpPr>
          <a:xfrm>
            <a:off x="8196184" y="2210421"/>
            <a:ext cx="680760" cy="461880"/>
            <a:chOff x="8196184" y="2210421"/>
            <a:chExt cx="680760" cy="46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74709A7-2B78-1FD1-9A09-79193756540A}"/>
                    </a:ext>
                  </a:extLst>
                </p14:cNvPr>
                <p14:cNvContentPartPr/>
                <p14:nvPr/>
              </p14:nvContentPartPr>
              <p14:xfrm>
                <a:off x="8196184" y="2218701"/>
                <a:ext cx="625320" cy="453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74709A7-2B78-1FD1-9A09-7919375654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87544" y="2209701"/>
                  <a:ext cx="64296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299DC74-1332-FD70-593B-CAB7DBD630F1}"/>
                    </a:ext>
                  </a:extLst>
                </p14:cNvPr>
                <p14:cNvContentPartPr/>
                <p14:nvPr/>
              </p14:nvContentPartPr>
              <p14:xfrm>
                <a:off x="8739784" y="2210421"/>
                <a:ext cx="137160" cy="81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299DC74-1332-FD70-593B-CAB7DBD630F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731144" y="2201421"/>
                  <a:ext cx="154800" cy="99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F23B629-EC4E-5CC0-0B3F-8AC3F0089202}"/>
              </a:ext>
            </a:extLst>
          </p:cNvPr>
          <p:cNvSpPr txBox="1"/>
          <p:nvPr/>
        </p:nvSpPr>
        <p:spPr>
          <a:xfrm>
            <a:off x="8896574" y="1936376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Document </a:t>
            </a:r>
            <a:r>
              <a:rPr lang="en-US" dirty="0" err="1">
                <a:latin typeface="Garamond" panose="02020404030301010803" pitchFamily="18" charset="0"/>
              </a:rPr>
              <a:t>metadada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FEB9C0-0152-FAEE-AECB-6FB8B0A9AF0B}"/>
              </a:ext>
            </a:extLst>
          </p:cNvPr>
          <p:cNvSpPr txBox="1"/>
          <p:nvPr/>
        </p:nvSpPr>
        <p:spPr>
          <a:xfrm>
            <a:off x="193780" y="9083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94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0FFC2-EA56-9443-577D-5BAD1A48F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C02C2-1BFD-C700-B357-AEE0350D4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“that’s it”… </a:t>
            </a:r>
          </a:p>
          <a:p>
            <a:r>
              <a:rPr lang="en-US" dirty="0"/>
              <a:t>Topic models in general, and STMs in particular, are useful:</a:t>
            </a:r>
          </a:p>
          <a:p>
            <a:pPr lvl="1"/>
            <a:r>
              <a:rPr lang="en-US" dirty="0"/>
              <a:t>Helps us classify large corpora by topics (either known or unknown)</a:t>
            </a:r>
          </a:p>
          <a:p>
            <a:pPr lvl="2"/>
            <a:r>
              <a:rPr lang="en-US" dirty="0"/>
              <a:t>Examples?</a:t>
            </a:r>
          </a:p>
          <a:p>
            <a:pPr lvl="1"/>
            <a:r>
              <a:rPr lang="en-US" dirty="0"/>
              <a:t>Helps discover possible topics (i.e., reverse engineer the topic generating process), particularly helpful when these are partially unknown. </a:t>
            </a:r>
          </a:p>
          <a:p>
            <a:pPr lvl="2"/>
            <a:r>
              <a:rPr lang="en-US" dirty="0"/>
              <a:t>Examples?</a:t>
            </a:r>
          </a:p>
        </p:txBody>
      </p:sp>
    </p:spTree>
    <p:extLst>
      <p:ext uri="{BB962C8B-B14F-4D97-AF65-F5344CB8AC3E}">
        <p14:creationId xmlns:p14="http://schemas.microsoft.com/office/powerpoint/2010/main" val="24543893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9182D3-040D-7D2E-2D58-75BED15A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Idiosyncratic view on topic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F6A61-F9D2-F24A-AB36-59B4942D4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1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67F779-6F9A-69AF-951C-A70ECC180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75AC3E-5356-8915-1DEE-512ED59FA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STM revolutionized the application of computational text-analysis techniques in the social sciences. </a:t>
            </a:r>
          </a:p>
          <a:p>
            <a:r>
              <a:rPr lang="en-US" dirty="0"/>
              <a:t>There have been, however, important critiques on the instability of the models and the problems with post-hoc decisions made by researchers to accommodate their needs (not Roberts et al.’s fault).</a:t>
            </a:r>
          </a:p>
          <a:p>
            <a:pPr lvl="1"/>
            <a:r>
              <a:rPr lang="en-US" dirty="0"/>
              <a:t>My experience with STM models has been… not good. </a:t>
            </a:r>
          </a:p>
          <a:p>
            <a:r>
              <a:rPr lang="en-US" dirty="0"/>
              <a:t>More importantly, </a:t>
            </a:r>
            <a:r>
              <a:rPr lang="en-US" i="1" dirty="0">
                <a:solidFill>
                  <a:schemeClr val="accent1"/>
                </a:solidFill>
              </a:rPr>
              <a:t>I believe </a:t>
            </a:r>
            <a:r>
              <a:rPr lang="en-US" dirty="0"/>
              <a:t>that the current advancement in transformers-based machine learnings and GPT models can provide better results with the same effort and low cost.  </a:t>
            </a:r>
          </a:p>
        </p:txBody>
      </p:sp>
    </p:spTree>
    <p:extLst>
      <p:ext uri="{BB962C8B-B14F-4D97-AF65-F5344CB8AC3E}">
        <p14:creationId xmlns:p14="http://schemas.microsoft.com/office/powerpoint/2010/main" val="477700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7F81-5B17-126C-9990-F863453C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D132E-62EE-6ADE-1AC4-9E623F94B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 said, even with my particular idiosyncratic view on the topic (as well as my experience with these models), </a:t>
            </a:r>
            <a:r>
              <a:rPr lang="en-US"/>
              <a:t>I also believe </a:t>
            </a:r>
            <a:r>
              <a:rPr lang="en-US" dirty="0"/>
              <a:t>that it is important to understand the intuition behind these models (and how to apply them).  </a:t>
            </a:r>
          </a:p>
          <a:p>
            <a:r>
              <a:rPr lang="en-US" dirty="0"/>
              <a:t>So, after what? [look at wrist with no watch] two hours? of whatever this class was? let’s see how to run these </a:t>
            </a:r>
            <a:r>
              <a:rPr lang="en-US" dirty="0" err="1"/>
              <a:t>beibi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But, lest I forget:</a:t>
            </a:r>
          </a:p>
        </p:txBody>
      </p:sp>
    </p:spTree>
    <p:extLst>
      <p:ext uri="{BB962C8B-B14F-4D97-AF65-F5344CB8AC3E}">
        <p14:creationId xmlns:p14="http://schemas.microsoft.com/office/powerpoint/2010/main" val="334089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1CBCA-F5F8-F3D1-AD8B-DB6C6B9F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80D1F-C5B6-0720-769C-AF9333D0E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the paper answer the research question? </a:t>
            </a:r>
          </a:p>
          <a:p>
            <a:r>
              <a:rPr lang="en-US" dirty="0"/>
              <a:t>Was the data appropriate for answering that question? </a:t>
            </a:r>
          </a:p>
          <a:p>
            <a:r>
              <a:rPr lang="en-US" dirty="0"/>
              <a:t>Was the method appropriate for answering that question? </a:t>
            </a:r>
          </a:p>
          <a:p>
            <a:r>
              <a:rPr lang="en-US" dirty="0"/>
              <a:t>Are the conclusions arrived at by the author </a:t>
            </a:r>
            <a:r>
              <a:rPr lang="en-US"/>
              <a:t>supported by `their </a:t>
            </a:r>
            <a:r>
              <a:rPr lang="en-US" dirty="0"/>
              <a:t>evidence?</a:t>
            </a:r>
          </a:p>
        </p:txBody>
      </p:sp>
    </p:spTree>
    <p:extLst>
      <p:ext uri="{BB962C8B-B14F-4D97-AF65-F5344CB8AC3E}">
        <p14:creationId xmlns:p14="http://schemas.microsoft.com/office/powerpoint/2010/main" val="165241384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{0E485437-9C64-634D-9FB8-65EB535908DD}tf10001071</Template>
  <TotalTime>1052</TotalTime>
  <Words>1490</Words>
  <Application>Microsoft Macintosh PowerPoint</Application>
  <PresentationFormat>Widescreen</PresentationFormat>
  <Paragraphs>132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Cambria Math</vt:lpstr>
      <vt:lpstr>Garamond</vt:lpstr>
      <vt:lpstr>Gill Sans MT</vt:lpstr>
      <vt:lpstr>Impact</vt:lpstr>
      <vt:lpstr>Badge</vt:lpstr>
      <vt:lpstr>Scaling Techniques and Topic Modeling</vt:lpstr>
      <vt:lpstr>Changing our focus…</vt:lpstr>
      <vt:lpstr>PowerPoint Presentation</vt:lpstr>
      <vt:lpstr>PowerPoint Presentation</vt:lpstr>
      <vt:lpstr>Unsupervised Learning</vt:lpstr>
      <vt:lpstr>PowerPoint Presentation</vt:lpstr>
      <vt:lpstr>Challenges: Hard to get it Right</vt:lpstr>
      <vt:lpstr>Challenges: Hard to know if you are doing it right</vt:lpstr>
      <vt:lpstr>Unsupervised scaling models</vt:lpstr>
      <vt:lpstr>PowerPoint Presentation</vt:lpstr>
      <vt:lpstr>Slapin and Proksch’s (2008) wordfish</vt:lpstr>
      <vt:lpstr>PowerPoint Presentation</vt:lpstr>
      <vt:lpstr>PowerPoint Presentation</vt:lpstr>
      <vt:lpstr>Clustering Methods</vt:lpstr>
      <vt:lpstr>PowerPoint Presentation</vt:lpstr>
      <vt:lpstr>K-Means Clustering</vt:lpstr>
      <vt:lpstr>K-Means Steps</vt:lpstr>
      <vt:lpstr>PowerPoint Presentation</vt:lpstr>
      <vt:lpstr>(Unsupervised)  Topic Models</vt:lpstr>
      <vt:lpstr>PowerPoint Presentation</vt:lpstr>
      <vt:lpstr>Roberts et al.’s (2014) Structural Topic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Idiosyncratic view on topic models</vt:lpstr>
      <vt:lpstr>PowerPoint Presentation</vt:lpstr>
      <vt:lpstr>PowerPoint Presentation</vt:lpstr>
      <vt:lpstr>Today’s Readings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Techniques and Topic Modeling</dc:title>
  <dc:creator>Sebastian Vallejo Vera</dc:creator>
  <cp:lastModifiedBy>Sebastian Vallejo Vera</cp:lastModifiedBy>
  <cp:revision>1</cp:revision>
  <dcterms:created xsi:type="dcterms:W3CDTF">2024-01-15T22:33:40Z</dcterms:created>
  <dcterms:modified xsi:type="dcterms:W3CDTF">2026-01-26T17:52:55Z</dcterms:modified>
</cp:coreProperties>
</file>