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60" r:id="rId2"/>
    <p:sldId id="261" r:id="rId3"/>
    <p:sldId id="257" r:id="rId4"/>
    <p:sldId id="256" r:id="rId5"/>
    <p:sldId id="263" r:id="rId6"/>
    <p:sldId id="262" r:id="rId7"/>
    <p:sldId id="264" r:id="rId8"/>
    <p:sldId id="265" r:id="rId9"/>
    <p:sldId id="266" r:id="rId10"/>
    <p:sldId id="267" r:id="rId11"/>
    <p:sldId id="259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088DCA-97A1-6449-A79C-DCDDC261542F}" v="1" dt="2024-02-26T13:56:50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/>
    <p:restoredTop sz="94694"/>
  </p:normalViewPr>
  <p:slideViewPr>
    <p:cSldViewPr snapToGrid="0">
      <p:cViewPr varScale="1">
        <p:scale>
          <a:sx n="121" d="100"/>
          <a:sy n="121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llejo Vera, Sebastian" userId="9dbf769e-f5f7-4c1a-b214-de73a2d2b9d1" providerId="ADAL" clId="{11088DCA-97A1-6449-A79C-DCDDC261542F}"/>
    <pc:docChg chg="undo custSel addSld delSld modSld">
      <pc:chgData name="Vallejo Vera, Sebastian" userId="9dbf769e-f5f7-4c1a-b214-de73a2d2b9d1" providerId="ADAL" clId="{11088DCA-97A1-6449-A79C-DCDDC261542F}" dt="2024-02-26T13:57:11.838" v="69" actId="20577"/>
      <pc:docMkLst>
        <pc:docMk/>
      </pc:docMkLst>
      <pc:sldChg chg="modSp add mod">
        <pc:chgData name="Vallejo Vera, Sebastian" userId="9dbf769e-f5f7-4c1a-b214-de73a2d2b9d1" providerId="ADAL" clId="{11088DCA-97A1-6449-A79C-DCDDC261542F}" dt="2024-02-26T13:57:11.838" v="69" actId="20577"/>
        <pc:sldMkLst>
          <pc:docMk/>
          <pc:sldMk cId="2078973217" sldId="277"/>
        </pc:sldMkLst>
        <pc:spChg chg="mod">
          <ac:chgData name="Vallejo Vera, Sebastian" userId="9dbf769e-f5f7-4c1a-b214-de73a2d2b9d1" providerId="ADAL" clId="{11088DCA-97A1-6449-A79C-DCDDC261542F}" dt="2024-02-26T13:57:11.838" v="69" actId="20577"/>
          <ac:spMkLst>
            <pc:docMk/>
            <pc:sldMk cId="2078973217" sldId="277"/>
            <ac:spMk id="3" creationId="{E17D8E63-4339-6894-9D12-D8F7F38DCA46}"/>
          </ac:spMkLst>
        </pc:spChg>
      </pc:sldChg>
      <pc:sldChg chg="del">
        <pc:chgData name="Vallejo Vera, Sebastian" userId="9dbf769e-f5f7-4c1a-b214-de73a2d2b9d1" providerId="ADAL" clId="{11088DCA-97A1-6449-A79C-DCDDC261542F}" dt="2024-02-26T13:56:46.124" v="0" actId="2696"/>
        <pc:sldMkLst>
          <pc:docMk/>
          <pc:sldMk cId="3569776172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EF5CCF-4A66-084F-8766-A9FC5460BAB0}" type="datetimeFigureOut">
              <a:rPr lang="en-US" smtClean="0"/>
              <a:t>2/26/24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039E31-0969-1C4B-BACA-3CE8114E6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141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39E31-0969-1C4B-BACA-3CE8114E6C6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918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D509DBE-7B61-BE44-8737-AC8234522DDE}" type="datetimeFigureOut">
              <a:rPr lang="en-US" smtClean="0"/>
              <a:t>2/26/24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095ADC3-0DAA-F348-B148-F314A614E522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88588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09DBE-7B61-BE44-8737-AC8234522DDE}" type="datetimeFigureOut">
              <a:rPr lang="en-US" smtClean="0"/>
              <a:t>2/26/24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5ADC3-0DAA-F348-B148-F314A614E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224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D509DBE-7B61-BE44-8737-AC8234522DDE}" type="datetimeFigureOut">
              <a:rPr lang="en-US" smtClean="0"/>
              <a:t>2/26/24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095ADC3-0DAA-F348-B148-F314A614E52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0007501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09DBE-7B61-BE44-8737-AC8234522DDE}" type="datetimeFigureOut">
              <a:rPr lang="en-US" smtClean="0"/>
              <a:t>2/26/24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5ADC3-0DAA-F348-B148-F314A614E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6722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09DBE-7B61-BE44-8737-AC8234522DDE}" type="datetimeFigureOut">
              <a:rPr lang="en-US" smtClean="0"/>
              <a:t>2/26/24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5ADC3-0DAA-F348-B148-F314A614E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0636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09DBE-7B61-BE44-8737-AC8234522DDE}" type="datetimeFigureOut">
              <a:rPr lang="en-US" smtClean="0"/>
              <a:t>2/26/24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5ADC3-0DAA-F348-B148-F314A614E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246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09DBE-7B61-BE44-8737-AC8234522DDE}" type="datetimeFigureOut">
              <a:rPr lang="en-US" smtClean="0"/>
              <a:t>2/26/24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5ADC3-0DAA-F348-B148-F314A614E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293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CD509DBE-7B61-BE44-8737-AC8234522DDE}" type="datetimeFigureOut">
              <a:rPr lang="en-US" smtClean="0"/>
              <a:t>2/26/24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A095ADC3-0DAA-F348-B148-F314A614E52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2511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CD509DBE-7B61-BE44-8737-AC8234522DDE}" type="datetimeFigureOut">
              <a:rPr lang="en-US" smtClean="0"/>
              <a:t>2/26/24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A095ADC3-0DAA-F348-B148-F314A614E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499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09DBE-7B61-BE44-8737-AC8234522DDE}" type="datetimeFigureOut">
              <a:rPr lang="en-US" smtClean="0"/>
              <a:t>2/26/24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5ADC3-0DAA-F348-B148-F314A614E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279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09DBE-7B61-BE44-8737-AC8234522DDE}" type="datetimeFigureOut">
              <a:rPr lang="en-US" smtClean="0"/>
              <a:t>2/26/24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5ADC3-0DAA-F348-B148-F314A614E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59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D509DBE-7B61-BE44-8737-AC8234522DDE}" type="datetimeFigureOut">
              <a:rPr lang="en-US" smtClean="0"/>
              <a:t>2/26/24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095ADC3-0DAA-F348-B148-F314A614E52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80860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svallejovera.github.io/cpa_uwo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33D2F-08A0-A8C5-572B-EF90AD1F7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80CA8-C903-B510-6900-160C62924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 journey!</a:t>
            </a:r>
          </a:p>
          <a:p>
            <a:r>
              <a:rPr lang="en-US" dirty="0"/>
              <a:t>We started by counting words and got all the way to giving numerical representations to words. </a:t>
            </a:r>
          </a:p>
          <a:p>
            <a:r>
              <a:rPr lang="en-US" dirty="0"/>
              <a:t>Think about each week as a tool you now have in your toolkit. </a:t>
            </a:r>
          </a:p>
          <a:p>
            <a:r>
              <a:rPr lang="en-US" dirty="0"/>
              <a:t>Not all tools are useful for every task. As you work more and more with them, you will see which tool helps you more with what.</a:t>
            </a:r>
          </a:p>
        </p:txBody>
      </p:sp>
    </p:spTree>
    <p:extLst>
      <p:ext uri="{BB962C8B-B14F-4D97-AF65-F5344CB8AC3E}">
        <p14:creationId xmlns:p14="http://schemas.microsoft.com/office/powerpoint/2010/main" val="54071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852C8-46C8-FCDB-A785-497C9E177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E27A3-3007-8E76-6FDB-D66CE568A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38147"/>
            <a:ext cx="10178322" cy="45414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Here is a rough outline of my process with text data: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 is the research question? My hypotheses? How can I operationalize my variables?</a:t>
            </a:r>
          </a:p>
          <a:p>
            <a:pPr lvl="1"/>
            <a:r>
              <a:rPr lang="en-US" dirty="0"/>
              <a:t>What information from my data do I need to answer it? If I was to read every document in my corpus, would I be able to identify the concept myself? Can I do it consistently?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 does my data look like?</a:t>
            </a:r>
          </a:p>
          <a:p>
            <a:pPr lvl="1"/>
            <a:r>
              <a:rPr lang="en-US" dirty="0"/>
              <a:t>How clean is my data? </a:t>
            </a:r>
          </a:p>
          <a:p>
            <a:pPr lvl="1"/>
            <a:r>
              <a:rPr lang="en-US" dirty="0"/>
              <a:t>If these are tweets, what does a tweet look like? What is its structure? If these are speeches, what does a speech look like? What is its structure?</a:t>
            </a:r>
          </a:p>
          <a:p>
            <a:pPr lvl="1"/>
            <a:r>
              <a:rPr lang="en-US" dirty="0"/>
              <a:t>What is the distribution of length of my documents? What are common tokens? </a:t>
            </a:r>
          </a:p>
          <a:p>
            <a:pPr lvl="1"/>
            <a:r>
              <a:rPr lang="en-US" dirty="0"/>
              <a:t>Is there information in my documents that I can use as metadata?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 is the simplest, most efficient tool, to extract the concept that I need from my data?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Am I actually capturing what I claim to be capturing?</a:t>
            </a:r>
          </a:p>
          <a:p>
            <a:pPr lvl="1"/>
            <a:r>
              <a:rPr lang="en-US" dirty="0"/>
              <a:t>Validate, validate, validate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07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D3FAC-B0B5-C51F-D3C7-B7874284E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5D02E-CC66-FF2E-E6E1-56E77EBB8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half-way through the class. By now, you should have some idea of what your final submission looks like. </a:t>
            </a:r>
          </a:p>
          <a:p>
            <a:endParaRPr lang="en-US" dirty="0"/>
          </a:p>
          <a:p>
            <a:r>
              <a:rPr lang="en-US" dirty="0"/>
              <a:t>Who wants to share first?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241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57A6A-1BCF-F72E-6192-96F01E6359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Getting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6028E7-A75A-51CA-2FB1-22C7C9211C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Prof. Sebastián Vallejo Vera</a:t>
            </a:r>
          </a:p>
        </p:txBody>
      </p:sp>
    </p:spTree>
    <p:extLst>
      <p:ext uri="{BB962C8B-B14F-4D97-AF65-F5344CB8AC3E}">
        <p14:creationId xmlns:p14="http://schemas.microsoft.com/office/powerpoint/2010/main" val="133424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90901E-1C58-8097-D0E8-D4D45A2D3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E031B5-3A7A-569F-ADA0-2C95F4FBE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Text-as-data has widened the scope of the social sciences (see Grimmer et al. 2022). </a:t>
            </a:r>
          </a:p>
          <a:p>
            <a:r>
              <a:rPr lang="en-US" dirty="0"/>
              <a:t>Ok, but how do I get that data? How do I load it into my computer? Is it legal to do so?</a:t>
            </a:r>
          </a:p>
          <a:p>
            <a:r>
              <a:rPr lang="en-US" dirty="0"/>
              <a:t>Let’s take a look… </a:t>
            </a:r>
          </a:p>
        </p:txBody>
      </p:sp>
    </p:spTree>
    <p:extLst>
      <p:ext uri="{BB962C8B-B14F-4D97-AF65-F5344CB8AC3E}">
        <p14:creationId xmlns:p14="http://schemas.microsoft.com/office/powerpoint/2010/main" val="2325132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A2214-CF51-45C5-8635-D8822A70D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C33A2E-1293-A3D7-FE29-D786568AD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263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1B8F-A529-EDAE-844B-1DB3AB359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So you have some pdfs…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71087-6CCE-793E-722A-A1A7F7C5D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Ok… so you have some PDFs. Now what?</a:t>
            </a:r>
          </a:p>
          <a:p>
            <a:r>
              <a:rPr lang="en-US" dirty="0"/>
              <a:t>In this week’s code I will show you how you can OCR these documents, load them into R, and organize them in way that you can start pre-processing them. </a:t>
            </a:r>
          </a:p>
          <a:p>
            <a:r>
              <a:rPr lang="en-US" dirty="0"/>
              <a:t>I will also provide some tips on organization and naming conventions. </a:t>
            </a:r>
          </a:p>
        </p:txBody>
      </p:sp>
    </p:spTree>
    <p:extLst>
      <p:ext uri="{BB962C8B-B14F-4D97-AF65-F5344CB8AC3E}">
        <p14:creationId xmlns:p14="http://schemas.microsoft.com/office/powerpoint/2010/main" val="2027904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7BDF1-28D9-ABF3-689D-464E7965A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 do not have PDFs, but I know where to find them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0DFF8-08C4-252F-B696-C5C6F55C4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Ok, so you do not currently have the PDFs, but you know a website where you can download them. There just does not seem to be a way to get them in bulk. </a:t>
            </a:r>
          </a:p>
          <a:p>
            <a:r>
              <a:rPr lang="en-US" dirty="0"/>
              <a:t>In this week’s code I will show you how you can, from R, bulk download these documents. </a:t>
            </a:r>
          </a:p>
        </p:txBody>
      </p:sp>
    </p:spTree>
    <p:extLst>
      <p:ext uri="{BB962C8B-B14F-4D97-AF65-F5344CB8AC3E}">
        <p14:creationId xmlns:p14="http://schemas.microsoft.com/office/powerpoint/2010/main" val="3574124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1E6F5-4D31-6E33-4949-87B354244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There is data on webpages that I want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1AA3B-BAD9-183C-60A0-D58EA3E71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maybe there is some text on webpages that might be helpful in your research. </a:t>
            </a:r>
          </a:p>
          <a:p>
            <a:r>
              <a:rPr lang="en-US" dirty="0"/>
              <a:t>In this week’s code I will show you how you can scrape that text as well. </a:t>
            </a:r>
          </a:p>
        </p:txBody>
      </p:sp>
    </p:spTree>
    <p:extLst>
      <p:ext uri="{BB962C8B-B14F-4D97-AF65-F5344CB8AC3E}">
        <p14:creationId xmlns:p14="http://schemas.microsoft.com/office/powerpoint/2010/main" val="214370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65214-14DB-F0B6-59B9-85FFE0674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Where else can I look?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BE773-C546-C893-2232-22716A268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Well, if you go to the main page of the course’s site (</a:t>
            </a:r>
            <a:r>
              <a:rPr lang="en-US" dirty="0">
                <a:hlinkClick r:id="rId2"/>
              </a:rPr>
              <a:t>https://svallejovera.github.io/cpa_uwo/</a:t>
            </a:r>
            <a:r>
              <a:rPr lang="en-US" dirty="0"/>
              <a:t>), there is a list of readily available datasets. </a:t>
            </a:r>
          </a:p>
          <a:p>
            <a:r>
              <a:rPr lang="en-US" dirty="0"/>
              <a:t>Look for packages that can help you:</a:t>
            </a:r>
          </a:p>
        </p:txBody>
      </p:sp>
    </p:spTree>
    <p:extLst>
      <p:ext uri="{BB962C8B-B14F-4D97-AF65-F5344CB8AC3E}">
        <p14:creationId xmlns:p14="http://schemas.microsoft.com/office/powerpoint/2010/main" val="525225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2FB3A7-BAE8-4252-5A32-A8BE065EB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491" y="796343"/>
            <a:ext cx="9617018" cy="526531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9698CB-65A1-F430-98C7-F0EED8204F37}"/>
              </a:ext>
            </a:extLst>
          </p:cNvPr>
          <p:cNvCxnSpPr/>
          <p:nvPr/>
        </p:nvCxnSpPr>
        <p:spPr>
          <a:xfrm>
            <a:off x="1510748" y="1762539"/>
            <a:ext cx="402866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9DD23B-DE3B-C56E-A483-15E8D9DE1951}"/>
              </a:ext>
            </a:extLst>
          </p:cNvPr>
          <p:cNvCxnSpPr/>
          <p:nvPr/>
        </p:nvCxnSpPr>
        <p:spPr>
          <a:xfrm>
            <a:off x="1510748" y="2104509"/>
            <a:ext cx="402866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6A13D1-010E-E9FF-7D76-E7BA69E986CF}"/>
              </a:ext>
            </a:extLst>
          </p:cNvPr>
          <p:cNvCxnSpPr/>
          <p:nvPr/>
        </p:nvCxnSpPr>
        <p:spPr>
          <a:xfrm>
            <a:off x="1629694" y="5368099"/>
            <a:ext cx="402866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4A0CCC-F74E-00AA-46D3-982D8131A388}"/>
              </a:ext>
            </a:extLst>
          </p:cNvPr>
          <p:cNvCxnSpPr/>
          <p:nvPr/>
        </p:nvCxnSpPr>
        <p:spPr>
          <a:xfrm>
            <a:off x="1629694" y="5724938"/>
            <a:ext cx="402866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161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442C-36DE-810F-039A-FA7A654D6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</a:t>
            </a:r>
            <a:r>
              <a:rPr lang="en-CA" dirty="0"/>
              <a:t>Barrie’s Website: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6647E-B160-C8F7-0153-AF0D34C75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YouTube API</a:t>
            </a:r>
          </a:p>
          <a:p>
            <a:pPr lvl="1"/>
            <a:r>
              <a:rPr lang="en-US" dirty="0"/>
              <a:t>https://</a:t>
            </a:r>
            <a:r>
              <a:rPr lang="en-US" dirty="0" err="1"/>
              <a:t>youtube</a:t>
            </a:r>
            <a:r>
              <a:rPr lang="en-US" dirty="0"/>
              <a:t>-data-</a:t>
            </a:r>
            <a:r>
              <a:rPr lang="en-US" dirty="0" err="1"/>
              <a:t>api.readthedocs.io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/latest/ </a:t>
            </a:r>
          </a:p>
          <a:p>
            <a:r>
              <a:rPr lang="en-US" dirty="0"/>
              <a:t>Spotify API</a:t>
            </a:r>
          </a:p>
          <a:p>
            <a:pPr lvl="1"/>
            <a:r>
              <a:rPr lang="en-US" dirty="0"/>
              <a:t>https://</a:t>
            </a:r>
            <a:r>
              <a:rPr lang="en-US" dirty="0" err="1"/>
              <a:t>www.rcharlie.com</a:t>
            </a:r>
            <a:r>
              <a:rPr lang="en-US" dirty="0"/>
              <a:t>/</a:t>
            </a:r>
            <a:r>
              <a:rPr lang="en-US" dirty="0" err="1"/>
              <a:t>spotifyr</a:t>
            </a:r>
            <a:r>
              <a:rPr lang="en-US" dirty="0"/>
              <a:t>/ </a:t>
            </a:r>
          </a:p>
          <a:p>
            <a:r>
              <a:rPr lang="en-US" dirty="0"/>
              <a:t>Genius API</a:t>
            </a:r>
          </a:p>
          <a:p>
            <a:pPr lvl="1"/>
            <a:r>
              <a:rPr lang="en-US" dirty="0"/>
              <a:t>https://</a:t>
            </a:r>
            <a:r>
              <a:rPr lang="en-US" dirty="0" err="1"/>
              <a:t>cran.r-project.org</a:t>
            </a:r>
            <a:r>
              <a:rPr lang="en-US" dirty="0"/>
              <a:t>/web/packages/</a:t>
            </a:r>
            <a:r>
              <a:rPr lang="en-US" dirty="0" err="1"/>
              <a:t>geniusr</a:t>
            </a:r>
            <a:r>
              <a:rPr lang="en-US" dirty="0"/>
              <a:t>/vignettes/</a:t>
            </a:r>
            <a:r>
              <a:rPr lang="en-US" dirty="0" err="1"/>
              <a:t>geniusr.html</a:t>
            </a:r>
            <a:r>
              <a:rPr lang="en-US" dirty="0"/>
              <a:t> </a:t>
            </a:r>
          </a:p>
          <a:p>
            <a:r>
              <a:rPr lang="en-US" dirty="0"/>
              <a:t>Guardian Newspaper API</a:t>
            </a:r>
          </a:p>
          <a:p>
            <a:pPr lvl="1"/>
            <a:r>
              <a:rPr lang="en-US" dirty="0"/>
              <a:t>https://</a:t>
            </a:r>
            <a:r>
              <a:rPr lang="en-US" dirty="0" err="1"/>
              <a:t>cran.r-project.org</a:t>
            </a:r>
            <a:r>
              <a:rPr lang="en-US" dirty="0"/>
              <a:t>/web/packages/</a:t>
            </a:r>
            <a:r>
              <a:rPr lang="en-US" dirty="0" err="1"/>
              <a:t>guardianapi</a:t>
            </a:r>
            <a:r>
              <a:rPr lang="en-US" dirty="0"/>
              <a:t>/vignettes/</a:t>
            </a:r>
            <a:r>
              <a:rPr lang="en-US" dirty="0" err="1"/>
              <a:t>introduction.html</a:t>
            </a:r>
            <a:r>
              <a:rPr lang="en-US" dirty="0"/>
              <a:t> </a:t>
            </a:r>
          </a:p>
          <a:p>
            <a:r>
              <a:rPr lang="en-US" dirty="0"/>
              <a:t>Or search “API” in https://</a:t>
            </a:r>
            <a:r>
              <a:rPr lang="en-US" dirty="0" err="1"/>
              <a:t>cran.r-project.org</a:t>
            </a:r>
            <a:r>
              <a:rPr lang="en-US" dirty="0"/>
              <a:t>/web/packages/</a:t>
            </a:r>
            <a:r>
              <a:rPr lang="en-US" dirty="0" err="1"/>
              <a:t>available_packages_by_name.html</a:t>
            </a:r>
            <a:endParaRPr lang="en-US" dirty="0"/>
          </a:p>
          <a:p>
            <a:r>
              <a:rPr lang="en-US" dirty="0"/>
              <a:t>Or search API directory in Programmable Web: https://</a:t>
            </a:r>
            <a:r>
              <a:rPr lang="en-US" dirty="0" err="1"/>
              <a:t>www.programmableweb.com</a:t>
            </a:r>
            <a:r>
              <a:rPr lang="en-US" dirty="0"/>
              <a:t>/</a:t>
            </a:r>
            <a:r>
              <a:rPr lang="en-US" dirty="0" err="1"/>
              <a:t>apis</a:t>
            </a:r>
            <a:r>
              <a:rPr lang="en-US" dirty="0"/>
              <a:t>/directory </a:t>
            </a:r>
          </a:p>
          <a:p>
            <a:r>
              <a:rPr lang="en-US" dirty="0"/>
              <a:t>Or work through this collaborative online review of APIs, written in R: https://</a:t>
            </a:r>
            <a:r>
              <a:rPr lang="en-US" dirty="0" err="1"/>
              <a:t>bookdown.org</a:t>
            </a:r>
            <a:r>
              <a:rPr lang="en-US" dirty="0"/>
              <a:t>/</a:t>
            </a:r>
            <a:r>
              <a:rPr lang="en-US" dirty="0" err="1"/>
              <a:t>paul</a:t>
            </a:r>
            <a:r>
              <a:rPr lang="en-US" dirty="0"/>
              <a:t>/</a:t>
            </a:r>
            <a:r>
              <a:rPr lang="en-US" dirty="0" err="1"/>
              <a:t>apis_for_social_scientists</a:t>
            </a:r>
            <a:r>
              <a:rPr lang="en-US" dirty="0"/>
              <a:t>/ </a:t>
            </a:r>
          </a:p>
        </p:txBody>
      </p:sp>
    </p:spTree>
    <p:extLst>
      <p:ext uri="{BB962C8B-B14F-4D97-AF65-F5344CB8AC3E}">
        <p14:creationId xmlns:p14="http://schemas.microsoft.com/office/powerpoint/2010/main" val="4027912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238A-E1D3-2FAF-FF80-43FF4B100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Think about your Research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6ECED-B86D-C458-BBEF-FB96CE53B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55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BBB762-F3F8-C597-FB20-4901E35F3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94506D-8220-8760-05E1-EAC1C9D8A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Unit of analysis: </a:t>
            </a:r>
          </a:p>
          <a:p>
            <a:pPr lvl="1"/>
            <a:r>
              <a:rPr lang="en-US" dirty="0"/>
              <a:t>Who or what are we studying? </a:t>
            </a:r>
          </a:p>
          <a:p>
            <a:pPr lvl="1"/>
            <a:r>
              <a:rPr lang="en-US" dirty="0"/>
              <a:t>Over what time frame?</a:t>
            </a:r>
          </a:p>
          <a:p>
            <a:r>
              <a:rPr lang="en-US" dirty="0"/>
              <a:t>Sampling:</a:t>
            </a:r>
          </a:p>
          <a:p>
            <a:pPr lvl="1"/>
            <a:r>
              <a:rPr lang="en-US" dirty="0"/>
              <a:t>Where is the data coming from?</a:t>
            </a:r>
          </a:p>
          <a:p>
            <a:pPr lvl="1"/>
            <a:r>
              <a:rPr lang="en-US" dirty="0"/>
              <a:t>Is my sample an accurate representation of the broader population I want to make inferences about?</a:t>
            </a:r>
          </a:p>
          <a:p>
            <a:r>
              <a:rPr lang="en-US" dirty="0"/>
              <a:t>Inference:</a:t>
            </a:r>
          </a:p>
          <a:p>
            <a:pPr lvl="1"/>
            <a:r>
              <a:rPr lang="en-US" dirty="0"/>
              <a:t>For example: Can I compare the behavior of people online with the behavior of people off line?</a:t>
            </a:r>
          </a:p>
        </p:txBody>
      </p:sp>
    </p:spTree>
    <p:extLst>
      <p:ext uri="{BB962C8B-B14F-4D97-AF65-F5344CB8AC3E}">
        <p14:creationId xmlns:p14="http://schemas.microsoft.com/office/powerpoint/2010/main" val="2143257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2DEDC2-AA28-20D5-EC93-2B51AF981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about the legal aspect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9023E9-55B9-C5C3-1D29-B7B6D4350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8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966465-EA57-F528-E2C7-E59A61944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F0FC61-53F1-832D-DA7F-05058FDF2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b="0" i="0" u="none" strike="noStrike" dirty="0">
                <a:solidFill>
                  <a:srgbClr val="595959"/>
                </a:solidFill>
                <a:effectLst/>
              </a:rPr>
              <a:t>Is content copyrighted? </a:t>
            </a:r>
          </a:p>
          <a:p>
            <a:pPr marL="4572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b="0" i="0" u="none" strike="noStrike" dirty="0">
                <a:solidFill>
                  <a:srgbClr val="595959"/>
                </a:solidFill>
                <a:effectLst/>
              </a:rPr>
              <a:t>Does scraping infringe IP rights?</a:t>
            </a:r>
          </a:p>
          <a:p>
            <a:pPr marL="457200" rtl="0" fontAlgn="base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CA" b="0" i="0" u="none" strike="noStrike" dirty="0">
                <a:solidFill>
                  <a:srgbClr val="595959"/>
                </a:solidFill>
                <a:effectLst/>
              </a:rPr>
              <a:t>Are there “terms of use” or “terms of service” for the platform?</a:t>
            </a:r>
          </a:p>
          <a:p>
            <a:pPr marL="457200" rtl="0" fontAlgn="base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CA" b="0" i="0" u="none" strike="noStrike" dirty="0">
                <a:solidFill>
                  <a:srgbClr val="595959"/>
                </a:solidFill>
                <a:effectLst/>
              </a:rPr>
              <a:t>Do your due diligence</a:t>
            </a:r>
            <a:r>
              <a:rPr lang="en-CA" dirty="0">
                <a:solidFill>
                  <a:srgbClr val="595959"/>
                </a:solidFill>
              </a:rPr>
              <a:t>… </a:t>
            </a:r>
            <a:endParaRPr lang="en-CA" b="0" i="0" u="none" strike="noStrike" dirty="0">
              <a:solidFill>
                <a:srgbClr val="595959"/>
              </a:solidFill>
              <a:effectLst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49718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FFD05-64C8-CC06-3032-1192C44CD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D544A-650D-D5A3-F1FA-5E60FDE31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Contact webpage owners in advance of scraping to prewarn</a:t>
            </a:r>
          </a:p>
          <a:p>
            <a:r>
              <a:rPr lang="en-US" dirty="0"/>
              <a:t>Optimize scraper to minimize demand</a:t>
            </a:r>
          </a:p>
          <a:p>
            <a:pPr lvl="1"/>
            <a:r>
              <a:rPr lang="en-US" dirty="0"/>
              <a:t>Avoid crashing a site</a:t>
            </a:r>
          </a:p>
          <a:p>
            <a:r>
              <a:rPr lang="en-US" dirty="0"/>
              <a:t>Run scraper at night or when webpage receives least traffic</a:t>
            </a:r>
          </a:p>
          <a:p>
            <a:pPr lvl="1"/>
            <a:r>
              <a:rPr lang="en-US" dirty="0"/>
              <a:t>Other people might be trying to access the webpage as well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917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86349-C88D-DD08-3BF9-AF413A40A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about the ethical aspect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51574-81C5-CABE-6B13-9E45C4749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Ethics &gt; Legal</a:t>
            </a:r>
          </a:p>
        </p:txBody>
      </p:sp>
    </p:spTree>
    <p:extLst>
      <p:ext uri="{BB962C8B-B14F-4D97-AF65-F5344CB8AC3E}">
        <p14:creationId xmlns:p14="http://schemas.microsoft.com/office/powerpoint/2010/main" val="348980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658418-9885-FD96-C5ED-AA86183DE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7870E3-3406-6E80-1D85-26BD133CE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Freelon, D. (2018). Computational research in the post-API age. </a:t>
            </a:r>
            <a:r>
              <a:rPr lang="en-CA" i="1" dirty="0"/>
              <a:t>Political Communication</a:t>
            </a:r>
            <a:r>
              <a:rPr lang="en-CA" dirty="0"/>
              <a:t>, </a:t>
            </a:r>
            <a:r>
              <a:rPr lang="en-CA" i="1" dirty="0"/>
              <a:t>35</a:t>
            </a:r>
            <a:r>
              <a:rPr lang="en-CA" dirty="0"/>
              <a:t>(4), 665-668.</a:t>
            </a:r>
          </a:p>
          <a:p>
            <a:r>
              <a:rPr lang="en-CA" dirty="0"/>
              <a:t>Bruns, A. (2019). After the ‘</a:t>
            </a:r>
            <a:r>
              <a:rPr lang="en-CA" dirty="0" err="1"/>
              <a:t>APIcalypse</a:t>
            </a:r>
            <a:r>
              <a:rPr lang="en-CA" dirty="0"/>
              <a:t>’: Social media platforms and their fight against critical scholarly research. </a:t>
            </a:r>
            <a:r>
              <a:rPr lang="en-CA" i="1" dirty="0"/>
              <a:t>Information, Communication &amp; Society</a:t>
            </a:r>
            <a:r>
              <a:rPr lang="en-CA" dirty="0"/>
              <a:t>, </a:t>
            </a:r>
            <a:r>
              <a:rPr lang="en-CA" i="1" dirty="0"/>
              <a:t>22</a:t>
            </a:r>
            <a:r>
              <a:rPr lang="en-CA" dirty="0"/>
              <a:t>(11), 1544-1566.</a:t>
            </a:r>
          </a:p>
          <a:p>
            <a:r>
              <a:rPr lang="en-CA" dirty="0" err="1"/>
              <a:t>Puschmann</a:t>
            </a:r>
            <a:r>
              <a:rPr lang="en-CA" dirty="0"/>
              <a:t>, C. (2019). An end to the wild west of social media research: A response to Axel Bruns. </a:t>
            </a:r>
            <a:r>
              <a:rPr lang="en-CA" i="1" dirty="0"/>
              <a:t>Information, Communication &amp; Society</a:t>
            </a:r>
            <a:r>
              <a:rPr lang="en-CA" dirty="0"/>
              <a:t>, </a:t>
            </a:r>
            <a:r>
              <a:rPr lang="en-CA" i="1" dirty="0"/>
              <a:t>22</a:t>
            </a:r>
            <a:r>
              <a:rPr lang="en-CA" dirty="0"/>
              <a:t>(11), 1582-1589.</a:t>
            </a:r>
          </a:p>
          <a:p>
            <a:r>
              <a:rPr lang="en-CA" dirty="0" err="1"/>
              <a:t>Salganik</a:t>
            </a:r>
            <a:r>
              <a:rPr lang="en-CA" dirty="0"/>
              <a:t>, M. J. (2019). </a:t>
            </a:r>
            <a:r>
              <a:rPr lang="en-CA" i="1" dirty="0"/>
              <a:t>Bit by bit: Social research in the digital age</a:t>
            </a:r>
            <a:r>
              <a:rPr lang="en-CA" dirty="0"/>
              <a:t>. Princeton University Press.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9524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6E250-3780-B054-F9EF-B2D339224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8E101-693D-56A6-FA93-DC508FDED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about this week’s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D8E63-4339-6894-9D12-D8F7F38DC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about the readings?</a:t>
            </a:r>
          </a:p>
          <a:p>
            <a:pPr lvl="1"/>
            <a:r>
              <a:rPr lang="en-US" dirty="0"/>
              <a:t>In terms of sources?</a:t>
            </a:r>
          </a:p>
          <a:p>
            <a:pPr lvl="1"/>
            <a:r>
              <a:rPr lang="en-US" dirty="0"/>
              <a:t>Biases?</a:t>
            </a:r>
          </a:p>
        </p:txBody>
      </p:sp>
    </p:spTree>
    <p:extLst>
      <p:ext uri="{BB962C8B-B14F-4D97-AF65-F5344CB8AC3E}">
        <p14:creationId xmlns:p14="http://schemas.microsoft.com/office/powerpoint/2010/main" val="2078973217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1319</TotalTime>
  <Words>997</Words>
  <Application>Microsoft Macintosh PowerPoint</Application>
  <PresentationFormat>Widescreen</PresentationFormat>
  <Paragraphs>83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Gill Sans MT</vt:lpstr>
      <vt:lpstr>Impact</vt:lpstr>
      <vt:lpstr>Badge</vt:lpstr>
      <vt:lpstr>PowerPoint Presentation</vt:lpstr>
      <vt:lpstr>My process</vt:lpstr>
      <vt:lpstr>Your projects</vt:lpstr>
      <vt:lpstr>Getting Data</vt:lpstr>
      <vt:lpstr>PowerPoint Presentation</vt:lpstr>
      <vt:lpstr>Getting Data</vt:lpstr>
      <vt:lpstr>1. So you have some pdfs…</vt:lpstr>
      <vt:lpstr>2. I do not have PDFs, but I know where to find them</vt:lpstr>
      <vt:lpstr>3. There is data on webpages that I want to use</vt:lpstr>
      <vt:lpstr>4. Where else can I look?</vt:lpstr>
      <vt:lpstr>PowerPoint Presentation</vt:lpstr>
      <vt:lpstr>From Barrie’s Website:</vt:lpstr>
      <vt:lpstr>Think about your Research Design</vt:lpstr>
      <vt:lpstr>PowerPoint Presentation</vt:lpstr>
      <vt:lpstr>Think about the legal aspect</vt:lpstr>
      <vt:lpstr>PowerPoint Presentation</vt:lpstr>
      <vt:lpstr>Best practices</vt:lpstr>
      <vt:lpstr>Think about the ethical aspect</vt:lpstr>
      <vt:lpstr>Resources</vt:lpstr>
      <vt:lpstr>Discussion about this week’s reading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Discussion about this week’s reading</dc:title>
  <dc:creator>Sebastian Vallejo Vera</dc:creator>
  <cp:lastModifiedBy>Sebastian Vallejo Vera</cp:lastModifiedBy>
  <cp:revision>1</cp:revision>
  <dcterms:created xsi:type="dcterms:W3CDTF">2024-01-31T23:16:53Z</dcterms:created>
  <dcterms:modified xsi:type="dcterms:W3CDTF">2024-02-26T13:58:49Z</dcterms:modified>
</cp:coreProperties>
</file>