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278"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86048"/>
  </p:normalViewPr>
  <p:slideViewPr>
    <p:cSldViewPr snapToGrid="0">
      <p:cViewPr varScale="1">
        <p:scale>
          <a:sx n="100" d="100"/>
          <a:sy n="100" d="100"/>
        </p:scale>
        <p:origin x="10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A248EEF8-C29E-592E-8CA9-13334A969EB7}"/>
    <pc:docChg chg="custSel modSld">
      <pc:chgData name="Sebastian Vallejo Vera" userId="661f42ee-5565-49c4-8b1d-325f2d699b91" providerId="ADAL" clId="{A248EEF8-C29E-592E-8CA9-13334A969EB7}" dt="2026-01-08T18:22:54.539" v="4" actId="20577"/>
      <pc:docMkLst>
        <pc:docMk/>
      </pc:docMkLst>
      <pc:sldChg chg="modSp mod">
        <pc:chgData name="Sebastian Vallejo Vera" userId="661f42ee-5565-49c4-8b1d-325f2d699b91" providerId="ADAL" clId="{A248EEF8-C29E-592E-8CA9-13334A969EB7}" dt="2026-01-08T18:22:03.054" v="3" actId="20577"/>
        <pc:sldMkLst>
          <pc:docMk/>
          <pc:sldMk cId="2492479510" sldId="271"/>
        </pc:sldMkLst>
        <pc:spChg chg="mod">
          <ac:chgData name="Sebastian Vallejo Vera" userId="661f42ee-5565-49c4-8b1d-325f2d699b91" providerId="ADAL" clId="{A248EEF8-C29E-592E-8CA9-13334A969EB7}" dt="2026-01-08T18:22:03.054" v="3" actId="20577"/>
          <ac:spMkLst>
            <pc:docMk/>
            <pc:sldMk cId="2492479510" sldId="271"/>
            <ac:spMk id="3" creationId="{A12A0A36-8AC1-1ABB-2601-9487F3061496}"/>
          </ac:spMkLst>
        </pc:spChg>
      </pc:sldChg>
      <pc:sldChg chg="modSp mod">
        <pc:chgData name="Sebastian Vallejo Vera" userId="661f42ee-5565-49c4-8b1d-325f2d699b91" providerId="ADAL" clId="{A248EEF8-C29E-592E-8CA9-13334A969EB7}" dt="2026-01-08T18:22:54.539" v="4" actId="20577"/>
        <pc:sldMkLst>
          <pc:docMk/>
          <pc:sldMk cId="3351347235" sldId="279"/>
        </pc:sldMkLst>
        <pc:spChg chg="mod">
          <ac:chgData name="Sebastian Vallejo Vera" userId="661f42ee-5565-49c4-8b1d-325f2d699b91" providerId="ADAL" clId="{A248EEF8-C29E-592E-8CA9-13334A969EB7}" dt="2026-01-08T18:22:54.539" v="4" actId="20577"/>
          <ac:spMkLst>
            <pc:docMk/>
            <pc:sldMk cId="3351347235" sldId="279"/>
            <ac:spMk id="9" creationId="{7717848A-66FD-2978-6B89-DF7B8611D77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0T23:13:08.197"/>
    </inkml:context>
    <inkml:brush xml:id="br0">
      <inkml:brushProperty name="width" value="0.2" units="cm"/>
      <inkml:brushProperty name="height" value="0.2"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1985 24575,'44'-53'0,"14"-6"0,-15 12 0,7-4-1093,7 0 1,9-2 0,-3 0-1,-14 6 1,-2 1 0,4-2 1036,6 0 1,5-3-1,1 1 1,-3 3 55,2-2 0,-3 3 0,2-1 0,7-4 0,2-1 0,-1 0 0,1 3 0,-1 1 0,0 0 0,0-1 0,0 0 0,1 1 0,2 5 0,0 1 0,1 0 0,-5 1 0,0 1 0,1 1 0,5 3 0,3 1 0,-3 3-307,-8 4 1,-1 1 0,0 1 306,4 0 0,0-1 0,-1 3 0,26-6 0,-1 4-6,-5 1 1,-1 3 5,-1 2 0,-1 3 0,-5 2 0,-1 4 0,7 5 0,0 2 0,-5 0 0,0 0 0,5 4 0,0 0 0,0 0 0,-1 0 0,-2 0 0,-3 0-425,-14 0 1,-1 0 424,11 0 0,-3 0 0,23 0 0,-30 6 0,0 2 0,-15 0 0,-3 1 1322,2 2 1,-2 1-1323,31 15 2400,-18-13-2400,-11 5 2137,-22-8-2137,-1 0 1362,-11-1-1362,-1-4 11,-6-2-11,0-4 0,-4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0T23:13:09.935"/>
    </inkml:context>
    <inkml:brush xml:id="br0">
      <inkml:brushProperty name="width" value="0.2" units="cm"/>
      <inkml:brushProperty name="height" value="0.2" units="cm"/>
      <inkml:brushProperty name="color" value="#AE198D"/>
      <inkml:brushProperty name="inkEffects" value="galaxy"/>
      <inkml:brushProperty name="anchorX" value="-21006.19141"/>
      <inkml:brushProperty name="anchorY" value="-5963.90967"/>
      <inkml:brushProperty name="scaleFactor" value="0.5"/>
    </inkml:brush>
  </inkml:definitions>
  <inkml:trace contextRef="#ctx0" brushRef="#br0">1 1 24575,'25'16'0,"-1"1"0,13 27 0,-12-17 0,30 40 0,-15-25 0,8 13 0,13-1 0,-21-20 0,21 12 0,-16-13 0,2 7 0,-9-13 0,-10 0 0,-7-16 0,-5 4 0,-1-5 0,-6-5 0,1 0 0,-5-2 0,-1 2 0,-4 4 0,0 0 0,0 0 0,-6 19 0,-12-2 0,-2 16 0,-18 3 0,5 0 0,-15 18 0,5-7 0,-6 7 0,8-9 0,2-7 0,6-3 0,3-8 0,13-8 0,-4-1 0,10-11 0,-4-1 0,9-6 0,-2 1 0,3-1 0,-1 1 0,2-5 0,4-1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5B7A56-316C-C04F-BA77-FB4743BCBD04}" type="datetimeFigureOut">
              <a:rPr lang="en-US" smtClean="0"/>
              <a:t>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D8F8E8-0B38-6A49-8FE9-F0E62D940BF7}" type="slidenum">
              <a:rPr lang="en-US" smtClean="0"/>
              <a:t>‹#›</a:t>
            </a:fld>
            <a:endParaRPr lang="en-US"/>
          </a:p>
        </p:txBody>
      </p:sp>
    </p:spTree>
    <p:extLst>
      <p:ext uri="{BB962C8B-B14F-4D97-AF65-F5344CB8AC3E}">
        <p14:creationId xmlns:p14="http://schemas.microsoft.com/office/powerpoint/2010/main" val="1145501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Al-Kindi#cite_note-4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i="1" dirty="0"/>
              <a:t>On Extracting Obscured Correspondence</a:t>
            </a:r>
            <a:r>
              <a:rPr lang="en-CA" dirty="0"/>
              <a:t>, more contemporarily: </a:t>
            </a:r>
            <a:r>
              <a:rPr lang="en-CA" i="1" dirty="0"/>
              <a:t>On Decrypting Encrypted Correspondence</a:t>
            </a:r>
            <a:r>
              <a:rPr lang="en-CA" dirty="0"/>
              <a:t>). In his treatise on cryptanalysis, he wrote:</a:t>
            </a:r>
          </a:p>
          <a:p>
            <a:r>
              <a:rPr lang="en-CA" dirty="0"/>
              <a:t>One way to solve an encrypted message, if we know its language, is to find a different plaintext of the same language long enough to fill one sheet or so, and then we count the occurrences of each letter. We call the most frequently occurring letter the "first", the next most occurring letter the "second", the following most occurring letter the "third", and so on, until we account for all the different letters in the plaintext sample. Then we look at the cipher text we want to solve and we also classify its symbols. We find the most occurring symbol and change it to the form of the "first" letter of the plaintext sample, the next most common symbol is changed to the form of the "second" letter, and the following most common symbol is changed to the form of the "third" letter, and so on, until we account for all symbols of the cryptogram we want to solve.</a:t>
            </a:r>
            <a:r>
              <a:rPr lang="en-CA" baseline="30000" dirty="0">
                <a:hlinkClick r:id="rId3"/>
              </a:rPr>
              <a:t>[</a:t>
            </a:r>
            <a:endParaRPr lang="en-CA" dirty="0"/>
          </a:p>
          <a:p>
            <a:endParaRPr lang="en-US" dirty="0"/>
          </a:p>
        </p:txBody>
      </p:sp>
      <p:sp>
        <p:nvSpPr>
          <p:cNvPr id="4" name="Slide Number Placeholder 3"/>
          <p:cNvSpPr>
            <a:spLocks noGrp="1"/>
          </p:cNvSpPr>
          <p:nvPr>
            <p:ph type="sldNum" sz="quarter" idx="5"/>
          </p:nvPr>
        </p:nvSpPr>
        <p:spPr/>
        <p:txBody>
          <a:bodyPr/>
          <a:lstStyle/>
          <a:p>
            <a:fld id="{A9D8F8E8-0B38-6A49-8FE9-F0E62D940BF7}" type="slidenum">
              <a:rPr lang="en-US" smtClean="0"/>
              <a:t>3</a:t>
            </a:fld>
            <a:endParaRPr lang="en-US"/>
          </a:p>
        </p:txBody>
      </p:sp>
    </p:spTree>
    <p:extLst>
      <p:ext uri="{BB962C8B-B14F-4D97-AF65-F5344CB8AC3E}">
        <p14:creationId xmlns:p14="http://schemas.microsoft.com/office/powerpoint/2010/main" val="4264684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Mendenhall argues that if you take enough words from any given writer, you will eventually end up with the same distribution of word length (Poisson).</a:t>
            </a:r>
          </a:p>
        </p:txBody>
      </p:sp>
      <p:sp>
        <p:nvSpPr>
          <p:cNvPr id="4" name="Slide Number Placeholder 3"/>
          <p:cNvSpPr>
            <a:spLocks noGrp="1"/>
          </p:cNvSpPr>
          <p:nvPr>
            <p:ph type="sldNum" sz="quarter" idx="5"/>
          </p:nvPr>
        </p:nvSpPr>
        <p:spPr/>
        <p:txBody>
          <a:bodyPr/>
          <a:lstStyle/>
          <a:p>
            <a:fld id="{A9D8F8E8-0B38-6A49-8FE9-F0E62D940BF7}" type="slidenum">
              <a:rPr lang="en-US" smtClean="0"/>
              <a:t>4</a:t>
            </a:fld>
            <a:endParaRPr lang="en-US"/>
          </a:p>
        </p:txBody>
      </p:sp>
    </p:spTree>
    <p:extLst>
      <p:ext uri="{BB962C8B-B14F-4D97-AF65-F5344CB8AC3E}">
        <p14:creationId xmlns:p14="http://schemas.microsoft.com/office/powerpoint/2010/main" val="1767531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D8F8E8-0B38-6A49-8FE9-F0E62D940BF7}" type="slidenum">
              <a:rPr lang="en-US" smtClean="0"/>
              <a:t>9</a:t>
            </a:fld>
            <a:endParaRPr lang="en-US"/>
          </a:p>
        </p:txBody>
      </p:sp>
    </p:spTree>
    <p:extLst>
      <p:ext uri="{BB962C8B-B14F-4D97-AF65-F5344CB8AC3E}">
        <p14:creationId xmlns:p14="http://schemas.microsoft.com/office/powerpoint/2010/main" val="1305517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D8F8E8-0B38-6A49-8FE9-F0E62D940BF7}" type="slidenum">
              <a:rPr lang="en-US" smtClean="0"/>
              <a:t>10</a:t>
            </a:fld>
            <a:endParaRPr lang="en-US"/>
          </a:p>
        </p:txBody>
      </p:sp>
    </p:spTree>
    <p:extLst>
      <p:ext uri="{BB962C8B-B14F-4D97-AF65-F5344CB8AC3E}">
        <p14:creationId xmlns:p14="http://schemas.microsoft.com/office/powerpoint/2010/main" val="1071804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8A4AE801-F781-7F45-AC0C-B7DDEE3AE9C2}" type="datetimeFigureOut">
              <a:rPr lang="en-US" smtClean="0"/>
              <a:t>1/8/26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B94D3C8F-8029-254D-9B7A-8F79652D23B2}"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40126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AE801-F781-7F45-AC0C-B7DDEE3AE9C2}" type="datetimeFigureOut">
              <a:rPr lang="en-US" smtClean="0"/>
              <a:t>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2339730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8A4AE801-F781-7F45-AC0C-B7DDEE3AE9C2}" type="datetimeFigureOut">
              <a:rPr lang="en-US" smtClean="0"/>
              <a:t>1/8/26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B94D3C8F-8029-254D-9B7A-8F79652D23B2}"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2881242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AE801-F781-7F45-AC0C-B7DDEE3AE9C2}" type="datetimeFigureOut">
              <a:rPr lang="en-US" smtClean="0"/>
              <a:t>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290734322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AE801-F781-7F45-AC0C-B7DDEE3AE9C2}" type="datetimeFigureOut">
              <a:rPr lang="en-US" smtClean="0"/>
              <a:t>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278939925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AE801-F781-7F45-AC0C-B7DDEE3AE9C2}" type="datetimeFigureOut">
              <a:rPr lang="en-US" smtClean="0"/>
              <a:t>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1923105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AE801-F781-7F45-AC0C-B7DDEE3AE9C2}" type="datetimeFigureOut">
              <a:rPr lang="en-US" smtClean="0"/>
              <a:t>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135975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8A4AE801-F781-7F45-AC0C-B7DDEE3AE9C2}" type="datetimeFigureOut">
              <a:rPr lang="en-US" smtClean="0"/>
              <a:t>1/8/26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B94D3C8F-8029-254D-9B7A-8F79652D23B2}"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37425282"/>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8A4AE801-F781-7F45-AC0C-B7DDEE3AE9C2}" type="datetimeFigureOut">
              <a:rPr lang="en-US" smtClean="0"/>
              <a:t>1/8/26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4061635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AE801-F781-7F45-AC0C-B7DDEE3AE9C2}" type="datetimeFigureOut">
              <a:rPr lang="en-US" smtClean="0"/>
              <a:t>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3153844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AE801-F781-7F45-AC0C-B7DDEE3AE9C2}" type="datetimeFigureOut">
              <a:rPr lang="en-US" smtClean="0"/>
              <a:t>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D3C8F-8029-254D-9B7A-8F79652D23B2}" type="slidenum">
              <a:rPr lang="en-US" smtClean="0"/>
              <a:t>‹#›</a:t>
            </a:fld>
            <a:endParaRPr lang="en-US"/>
          </a:p>
        </p:txBody>
      </p:sp>
    </p:spTree>
    <p:extLst>
      <p:ext uri="{BB962C8B-B14F-4D97-AF65-F5344CB8AC3E}">
        <p14:creationId xmlns:p14="http://schemas.microsoft.com/office/powerpoint/2010/main" val="1998812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8A4AE801-F781-7F45-AC0C-B7DDEE3AE9C2}" type="datetimeFigureOut">
              <a:rPr lang="en-US" smtClean="0"/>
              <a:t>1/8/26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B94D3C8F-8029-254D-9B7A-8F79652D23B2}"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760832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lipad.ca/" TargetMode="External"/><Relationship Id="rId2" Type="http://schemas.openxmlformats.org/officeDocument/2006/relationships/hyperlink" Target="https://cran.r-project.org/web/packages/hansard/index.html" TargetMode="External"/><Relationship Id="rId1" Type="http://schemas.openxmlformats.org/officeDocument/2006/relationships/slideLayout" Target="../slideLayouts/slideLayout2.xml"/><Relationship Id="rId4" Type="http://schemas.openxmlformats.org/officeDocument/2006/relationships/hyperlink" Target="https://global.oup.com/academic/product/the-politics-of-legislative-debates-9780198849063?cc=ca&amp;lang=en&am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cran.r-project.org/web/packages/gutenbergr/vignettes/intro.html" TargetMode="External"/><Relationship Id="rId2" Type="http://schemas.openxmlformats.org/officeDocument/2006/relationships/hyperlink" Target="https://en.wikipedia.org/wiki/Wikipedia:Database_download" TargetMode="External"/><Relationship Id="rId1" Type="http://schemas.openxmlformats.org/officeDocument/2006/relationships/slideLayout" Target="../slideLayouts/slideLayout2.xml"/><Relationship Id="rId5" Type="http://schemas.openxmlformats.org/officeDocument/2006/relationships/hyperlink" Target="http://storage.googleapis.com/books/ngrams/books/datasetsv2.html" TargetMode="External"/><Relationship Id="rId4" Type="http://schemas.openxmlformats.org/officeDocument/2006/relationships/hyperlink" Target="https://archive.org/details/dataset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2FBAA-EBC8-43E5-108C-53EAB2D3C759}"/>
              </a:ext>
            </a:extLst>
          </p:cNvPr>
          <p:cNvSpPr>
            <a:spLocks noGrp="1"/>
          </p:cNvSpPr>
          <p:nvPr>
            <p:ph type="ctrTitle"/>
          </p:nvPr>
        </p:nvSpPr>
        <p:spPr/>
        <p:txBody>
          <a:bodyPr/>
          <a:lstStyle/>
          <a:p>
            <a:r>
              <a:rPr lang="en-US" dirty="0"/>
              <a:t>Why Computational Text Analysis</a:t>
            </a:r>
          </a:p>
        </p:txBody>
      </p:sp>
      <p:sp>
        <p:nvSpPr>
          <p:cNvPr id="3" name="Subtitle 2">
            <a:extLst>
              <a:ext uri="{FF2B5EF4-FFF2-40B4-BE49-F238E27FC236}">
                <a16:creationId xmlns:a16="http://schemas.microsoft.com/office/drawing/2014/main" id="{DD6CE084-3FD6-5EBE-D564-77EF86F25B4A}"/>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073440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FCDD-C78F-932A-1139-094EA001AE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BB6951-8554-7268-A937-369F3D10BD43}"/>
              </a:ext>
            </a:extLst>
          </p:cNvPr>
          <p:cNvSpPr>
            <a:spLocks noGrp="1"/>
          </p:cNvSpPr>
          <p:nvPr>
            <p:ph idx="1"/>
          </p:nvPr>
        </p:nvSpPr>
        <p:spPr/>
        <p:txBody>
          <a:bodyPr/>
          <a:lstStyle/>
          <a:p>
            <a:r>
              <a:rPr lang="en-US" dirty="0"/>
              <a:t>In COMPUTATIONAL TEXT ANALYSIS there are two parts: the COMPUTATIONAL, and the TEXT ANALYSIS.</a:t>
            </a:r>
          </a:p>
          <a:p>
            <a:endParaRPr lang="en-US" dirty="0"/>
          </a:p>
          <a:p>
            <a:r>
              <a:rPr lang="en-US" dirty="0"/>
              <a:t>Scholars have been conducting TEXT ANALYSIS for some time now...</a:t>
            </a:r>
          </a:p>
        </p:txBody>
      </p:sp>
    </p:spTree>
    <p:extLst>
      <p:ext uri="{BB962C8B-B14F-4D97-AF65-F5344CB8AC3E}">
        <p14:creationId xmlns:p14="http://schemas.microsoft.com/office/powerpoint/2010/main" val="3227356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8AA5-EA85-61BB-E5D1-0974ED3FD3AF}"/>
              </a:ext>
            </a:extLst>
          </p:cNvPr>
          <p:cNvSpPr>
            <a:spLocks noGrp="1"/>
          </p:cNvSpPr>
          <p:nvPr>
            <p:ph type="title"/>
          </p:nvPr>
        </p:nvSpPr>
        <p:spPr/>
        <p:txBody>
          <a:bodyPr>
            <a:normAutofit fontScale="90000"/>
          </a:bodyPr>
          <a:lstStyle/>
          <a:p>
            <a:r>
              <a:rPr lang="en-US" dirty="0"/>
              <a:t>Al-</a:t>
            </a:r>
            <a:r>
              <a:rPr lang="en-US" dirty="0" err="1"/>
              <a:t>Kindi</a:t>
            </a:r>
            <a:r>
              <a:rPr lang="en-US" dirty="0"/>
              <a:t> (c. 9 AD) – On Deciphering Cryptographic Messages</a:t>
            </a:r>
          </a:p>
        </p:txBody>
      </p:sp>
      <p:pic>
        <p:nvPicPr>
          <p:cNvPr id="1026" name="Picture 2">
            <a:extLst>
              <a:ext uri="{FF2B5EF4-FFF2-40B4-BE49-F238E27FC236}">
                <a16:creationId xmlns:a16="http://schemas.microsoft.com/office/drawing/2014/main" id="{90DC67C5-A960-CCD6-5B9B-4EAD2FCE3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9550" y="2008809"/>
            <a:ext cx="4152900" cy="416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81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F425-4006-D75C-6DE6-73B3A3E6EFD6}"/>
              </a:ext>
            </a:extLst>
          </p:cNvPr>
          <p:cNvSpPr>
            <a:spLocks noGrp="1"/>
          </p:cNvSpPr>
          <p:nvPr>
            <p:ph type="title"/>
          </p:nvPr>
        </p:nvSpPr>
        <p:spPr/>
        <p:txBody>
          <a:bodyPr>
            <a:noAutofit/>
          </a:bodyPr>
          <a:lstStyle/>
          <a:p>
            <a:r>
              <a:rPr lang="en-US" sz="4000" dirty="0"/>
              <a:t>Mendenhall (1887) - </a:t>
            </a:r>
            <a:r>
              <a:rPr lang="en-CA" sz="4000" dirty="0"/>
              <a:t>The Characteristic Curves of Composition</a:t>
            </a:r>
            <a:endParaRPr lang="en-US" sz="4000" dirty="0"/>
          </a:p>
        </p:txBody>
      </p:sp>
      <p:pic>
        <p:nvPicPr>
          <p:cNvPr id="3" name="Picture 2">
            <a:extLst>
              <a:ext uri="{FF2B5EF4-FFF2-40B4-BE49-F238E27FC236}">
                <a16:creationId xmlns:a16="http://schemas.microsoft.com/office/drawing/2014/main" id="{219E0B38-F40D-C69D-7602-0C1397CD33E6}"/>
              </a:ext>
            </a:extLst>
          </p:cNvPr>
          <p:cNvPicPr>
            <a:picLocks noChangeAspect="1"/>
          </p:cNvPicPr>
          <p:nvPr/>
        </p:nvPicPr>
        <p:blipFill>
          <a:blip r:embed="rId3"/>
          <a:stretch>
            <a:fillRect/>
          </a:stretch>
        </p:blipFill>
        <p:spPr>
          <a:xfrm>
            <a:off x="3264371" y="1788016"/>
            <a:ext cx="5663257" cy="4704859"/>
          </a:xfrm>
          <a:prstGeom prst="rect">
            <a:avLst/>
          </a:prstGeom>
        </p:spPr>
      </p:pic>
    </p:spTree>
    <p:extLst>
      <p:ext uri="{BB962C8B-B14F-4D97-AF65-F5344CB8AC3E}">
        <p14:creationId xmlns:p14="http://schemas.microsoft.com/office/powerpoint/2010/main" val="3122738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9234-27AD-8474-6C73-FD77B0F5739C}"/>
              </a:ext>
            </a:extLst>
          </p:cNvPr>
          <p:cNvSpPr>
            <a:spLocks noGrp="1"/>
          </p:cNvSpPr>
          <p:nvPr>
            <p:ph type="title"/>
          </p:nvPr>
        </p:nvSpPr>
        <p:spPr/>
        <p:txBody>
          <a:bodyPr>
            <a:noAutofit/>
          </a:bodyPr>
          <a:lstStyle/>
          <a:p>
            <a:r>
              <a:rPr lang="en-US" sz="4000" dirty="0"/>
              <a:t>Holmes (1998) - The Evolution of Stylometry in Humanities Scholarship</a:t>
            </a:r>
          </a:p>
        </p:txBody>
      </p:sp>
      <p:sp>
        <p:nvSpPr>
          <p:cNvPr id="3" name="Content Placeholder 2">
            <a:extLst>
              <a:ext uri="{FF2B5EF4-FFF2-40B4-BE49-F238E27FC236}">
                <a16:creationId xmlns:a16="http://schemas.microsoft.com/office/drawing/2014/main" id="{F7FDBD97-66DB-DC81-D08B-4189290D8973}"/>
              </a:ext>
            </a:extLst>
          </p:cNvPr>
          <p:cNvSpPr>
            <a:spLocks noGrp="1"/>
          </p:cNvSpPr>
          <p:nvPr>
            <p:ph idx="1"/>
          </p:nvPr>
        </p:nvSpPr>
        <p:spPr/>
        <p:txBody>
          <a:bodyPr>
            <a:normAutofit/>
          </a:bodyPr>
          <a:lstStyle/>
          <a:p>
            <a:r>
              <a:rPr lang="en-US" dirty="0"/>
              <a:t>“As the volume of available computer-readable literary texts continues to increase, we can expect expansion in the use of automated pattern recognition techniques, such as neural networks, to act as tools in the resolution of outstanding authorship disputes. Automated feature finders will be developed (see Forsyth and Holmes, 1996) to let the computer take over the task of finding the features that best discriminate between two candidate authors for a disputed text.”</a:t>
            </a:r>
          </a:p>
        </p:txBody>
      </p:sp>
    </p:spTree>
    <p:extLst>
      <p:ext uri="{BB962C8B-B14F-4D97-AF65-F5344CB8AC3E}">
        <p14:creationId xmlns:p14="http://schemas.microsoft.com/office/powerpoint/2010/main" val="275942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FCDD-C78F-932A-1139-094EA001AE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BB6951-8554-7268-A937-369F3D10BD43}"/>
              </a:ext>
            </a:extLst>
          </p:cNvPr>
          <p:cNvSpPr>
            <a:spLocks noGrp="1"/>
          </p:cNvSpPr>
          <p:nvPr>
            <p:ph idx="1"/>
          </p:nvPr>
        </p:nvSpPr>
        <p:spPr/>
        <p:txBody>
          <a:bodyPr/>
          <a:lstStyle/>
          <a:p>
            <a:r>
              <a:rPr lang="en-US" dirty="0"/>
              <a:t>In COMPUTATIONAL TEXT ANALYSIS there are two parts: the COMPUTATIONAL, and the TEXT ANALYSIS.</a:t>
            </a:r>
          </a:p>
          <a:p>
            <a:endParaRPr lang="en-US" dirty="0"/>
          </a:p>
          <a:p>
            <a:r>
              <a:rPr lang="en-US" dirty="0"/>
              <a:t>Scholars have been conducting TEXT ANALYSIS for some time now.</a:t>
            </a:r>
          </a:p>
          <a:p>
            <a:r>
              <a:rPr lang="en-US" dirty="0"/>
              <a:t>In recent years, the availability of machine-readable data and the development of more powerful tools have led to a greater focus on the COMPUTATIONAL part… </a:t>
            </a:r>
          </a:p>
        </p:txBody>
      </p:sp>
    </p:spTree>
    <p:extLst>
      <p:ext uri="{BB962C8B-B14F-4D97-AF65-F5344CB8AC3E}">
        <p14:creationId xmlns:p14="http://schemas.microsoft.com/office/powerpoint/2010/main" val="1136580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D935-FBA9-1BD1-990E-FEFF6E5282EB}"/>
              </a:ext>
            </a:extLst>
          </p:cNvPr>
          <p:cNvSpPr>
            <a:spLocks noGrp="1"/>
          </p:cNvSpPr>
          <p:nvPr>
            <p:ph type="title"/>
          </p:nvPr>
        </p:nvSpPr>
        <p:spPr/>
        <p:txBody>
          <a:bodyPr/>
          <a:lstStyle/>
          <a:p>
            <a:r>
              <a:rPr lang="en-US" dirty="0"/>
              <a:t>Why text?</a:t>
            </a:r>
          </a:p>
        </p:txBody>
      </p:sp>
      <p:sp>
        <p:nvSpPr>
          <p:cNvPr id="3" name="Text Placeholder 2">
            <a:extLst>
              <a:ext uri="{FF2B5EF4-FFF2-40B4-BE49-F238E27FC236}">
                <a16:creationId xmlns:a16="http://schemas.microsoft.com/office/drawing/2014/main" id="{29A9337C-F339-26B6-5AF2-F22D6AE58F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23894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A24B23-3726-CDC9-EE98-523C7ACF7D60}"/>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87777E3C-5BD4-CA29-C858-81495B45606F}"/>
              </a:ext>
            </a:extLst>
          </p:cNvPr>
          <p:cNvSpPr>
            <a:spLocks noGrp="1"/>
          </p:cNvSpPr>
          <p:nvPr>
            <p:ph idx="1"/>
          </p:nvPr>
        </p:nvSpPr>
        <p:spPr/>
        <p:txBody>
          <a:bodyPr/>
          <a:lstStyle/>
          <a:p>
            <a:r>
              <a:rPr lang="en-US" dirty="0"/>
              <a:t>Politicians love to speak.</a:t>
            </a:r>
          </a:p>
          <a:p>
            <a:r>
              <a:rPr lang="en-US" dirty="0"/>
              <a:t>Bureaucrats love to write.</a:t>
            </a:r>
          </a:p>
          <a:p>
            <a:r>
              <a:rPr lang="en-US" dirty="0"/>
              <a:t>People love to tweet.</a:t>
            </a:r>
          </a:p>
          <a:p>
            <a:endParaRPr lang="en-US" dirty="0"/>
          </a:p>
          <a:p>
            <a:r>
              <a:rPr lang="en-US" dirty="0"/>
              <a:t>There is text in every aspect of politics: debates on legislation, peace treaties, news reports, political manifestos, campaign speeches, social media, etc. Not only is text ubiquitous, but it is produced all the time (sometimes in real time).</a:t>
            </a:r>
          </a:p>
          <a:p>
            <a:r>
              <a:rPr lang="en-US" dirty="0"/>
              <a:t>And it can tell us a whole bunch of things…</a:t>
            </a:r>
          </a:p>
        </p:txBody>
      </p:sp>
    </p:spTree>
    <p:extLst>
      <p:ext uri="{BB962C8B-B14F-4D97-AF65-F5344CB8AC3E}">
        <p14:creationId xmlns:p14="http://schemas.microsoft.com/office/powerpoint/2010/main" val="376537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036131-11CA-9048-42EF-F5615D6AE38C}"/>
              </a:ext>
            </a:extLst>
          </p:cNvPr>
          <p:cNvPicPr>
            <a:picLocks noChangeAspect="1"/>
          </p:cNvPicPr>
          <p:nvPr/>
        </p:nvPicPr>
        <p:blipFill>
          <a:blip r:embed="rId3"/>
          <a:stretch>
            <a:fillRect/>
          </a:stretch>
        </p:blipFill>
        <p:spPr>
          <a:xfrm>
            <a:off x="3000968" y="1874517"/>
            <a:ext cx="6190063" cy="3548500"/>
          </a:xfrm>
          <a:prstGeom prst="rect">
            <a:avLst/>
          </a:prstGeom>
        </p:spPr>
      </p:pic>
      <p:sp>
        <p:nvSpPr>
          <p:cNvPr id="5" name="Title 4">
            <a:extLst>
              <a:ext uri="{FF2B5EF4-FFF2-40B4-BE49-F238E27FC236}">
                <a16:creationId xmlns:a16="http://schemas.microsoft.com/office/drawing/2014/main" id="{B8C5675E-B4BB-2B4E-3213-18A3D0E0DF4D}"/>
              </a:ext>
            </a:extLst>
          </p:cNvPr>
          <p:cNvSpPr>
            <a:spLocks noGrp="1"/>
          </p:cNvSpPr>
          <p:nvPr>
            <p:ph type="title"/>
          </p:nvPr>
        </p:nvSpPr>
        <p:spPr/>
        <p:txBody>
          <a:bodyPr>
            <a:normAutofit/>
          </a:bodyPr>
          <a:lstStyle/>
          <a:p>
            <a:r>
              <a:rPr lang="en-US" sz="4400" dirty="0"/>
              <a:t>Track changing discourse across time…</a:t>
            </a:r>
          </a:p>
        </p:txBody>
      </p:sp>
      <p:sp>
        <p:nvSpPr>
          <p:cNvPr id="6" name="TextBox 5">
            <a:extLst>
              <a:ext uri="{FF2B5EF4-FFF2-40B4-BE49-F238E27FC236}">
                <a16:creationId xmlns:a16="http://schemas.microsoft.com/office/drawing/2014/main" id="{52967F72-13BF-B26E-6370-7FA5BFDC8033}"/>
              </a:ext>
            </a:extLst>
          </p:cNvPr>
          <p:cNvSpPr txBox="1"/>
          <p:nvPr/>
        </p:nvSpPr>
        <p:spPr>
          <a:xfrm>
            <a:off x="1016343" y="5569544"/>
            <a:ext cx="10159314" cy="923330"/>
          </a:xfrm>
          <a:prstGeom prst="rect">
            <a:avLst/>
          </a:prstGeom>
          <a:noFill/>
        </p:spPr>
        <p:txBody>
          <a:bodyPr wrap="square" rtlCol="0">
            <a:spAutoFit/>
          </a:bodyPr>
          <a:lstStyle/>
          <a:p>
            <a:r>
              <a:rPr lang="en-CA" dirty="0">
                <a:latin typeface="Garamond" panose="02020404030301010803" pitchFamily="18" charset="0"/>
              </a:rPr>
              <a:t>Hargrave, L., &amp; Blumenau, J. (2022). No longer conforming to stereotypes? Gender, political style and parliamentary debate in the UK. </a:t>
            </a:r>
            <a:r>
              <a:rPr lang="en-CA" i="1" dirty="0">
                <a:latin typeface="Garamond" panose="02020404030301010803" pitchFamily="18" charset="0"/>
              </a:rPr>
              <a:t>British Journal of Political Science</a:t>
            </a:r>
            <a:r>
              <a:rPr lang="en-CA" dirty="0">
                <a:latin typeface="Garamond" panose="02020404030301010803" pitchFamily="18" charset="0"/>
              </a:rPr>
              <a:t>, </a:t>
            </a:r>
            <a:r>
              <a:rPr lang="en-CA" i="1" dirty="0">
                <a:latin typeface="Garamond" panose="02020404030301010803" pitchFamily="18" charset="0"/>
              </a:rPr>
              <a:t>52</a:t>
            </a:r>
            <a:r>
              <a:rPr lang="en-CA" dirty="0">
                <a:latin typeface="Garamond" panose="02020404030301010803" pitchFamily="18" charset="0"/>
              </a:rPr>
              <a:t>(4), 1584-1601.</a:t>
            </a:r>
          </a:p>
          <a:p>
            <a:endParaRPr lang="en-US" dirty="0"/>
          </a:p>
        </p:txBody>
      </p:sp>
    </p:spTree>
    <p:extLst>
      <p:ext uri="{BB962C8B-B14F-4D97-AF65-F5344CB8AC3E}">
        <p14:creationId xmlns:p14="http://schemas.microsoft.com/office/powerpoint/2010/main" val="979552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45A6-1EB1-775C-5E7D-D0D91BFA74B4}"/>
              </a:ext>
            </a:extLst>
          </p:cNvPr>
          <p:cNvSpPr>
            <a:spLocks noGrp="1"/>
          </p:cNvSpPr>
          <p:nvPr>
            <p:ph type="title"/>
          </p:nvPr>
        </p:nvSpPr>
        <p:spPr/>
        <p:txBody>
          <a:bodyPr/>
          <a:lstStyle/>
          <a:p>
            <a:r>
              <a:rPr lang="en-US" dirty="0"/>
              <a:t>Provide context to concepts…</a:t>
            </a:r>
          </a:p>
        </p:txBody>
      </p:sp>
      <p:pic>
        <p:nvPicPr>
          <p:cNvPr id="3" name="Picture 2">
            <a:extLst>
              <a:ext uri="{FF2B5EF4-FFF2-40B4-BE49-F238E27FC236}">
                <a16:creationId xmlns:a16="http://schemas.microsoft.com/office/drawing/2014/main" id="{1C688C50-F15F-5362-E436-21EB67905216}"/>
              </a:ext>
            </a:extLst>
          </p:cNvPr>
          <p:cNvPicPr>
            <a:picLocks noChangeAspect="1"/>
          </p:cNvPicPr>
          <p:nvPr/>
        </p:nvPicPr>
        <p:blipFill>
          <a:blip r:embed="rId3"/>
          <a:stretch>
            <a:fillRect/>
          </a:stretch>
        </p:blipFill>
        <p:spPr>
          <a:xfrm>
            <a:off x="4179911" y="1496581"/>
            <a:ext cx="3832177" cy="3864837"/>
          </a:xfrm>
          <a:prstGeom prst="rect">
            <a:avLst/>
          </a:prstGeom>
        </p:spPr>
      </p:pic>
      <p:sp>
        <p:nvSpPr>
          <p:cNvPr id="4" name="TextBox 3">
            <a:extLst>
              <a:ext uri="{FF2B5EF4-FFF2-40B4-BE49-F238E27FC236}">
                <a16:creationId xmlns:a16="http://schemas.microsoft.com/office/drawing/2014/main" id="{5D145B35-8770-E07A-CBDF-E155A861AEB5}"/>
              </a:ext>
            </a:extLst>
          </p:cNvPr>
          <p:cNvSpPr txBox="1"/>
          <p:nvPr/>
        </p:nvSpPr>
        <p:spPr>
          <a:xfrm>
            <a:off x="1016342" y="5569544"/>
            <a:ext cx="10159314" cy="923330"/>
          </a:xfrm>
          <a:prstGeom prst="rect">
            <a:avLst/>
          </a:prstGeom>
          <a:noFill/>
        </p:spPr>
        <p:txBody>
          <a:bodyPr wrap="square" rtlCol="0">
            <a:spAutoFit/>
          </a:bodyPr>
          <a:lstStyle/>
          <a:p>
            <a:r>
              <a:rPr lang="en-CA" dirty="0">
                <a:latin typeface="Garamond" panose="02020404030301010803" pitchFamily="18" charset="0"/>
              </a:rPr>
              <a:t>Bauer, P. C., </a:t>
            </a:r>
            <a:r>
              <a:rPr lang="en-CA" dirty="0" err="1">
                <a:latin typeface="Garamond" panose="02020404030301010803" pitchFamily="18" charset="0"/>
              </a:rPr>
              <a:t>Barberá</a:t>
            </a:r>
            <a:r>
              <a:rPr lang="en-CA" dirty="0">
                <a:latin typeface="Garamond" panose="02020404030301010803" pitchFamily="18" charset="0"/>
              </a:rPr>
              <a:t>, P., Ackermann, K., &amp; </a:t>
            </a:r>
            <a:r>
              <a:rPr lang="en-CA" dirty="0" err="1">
                <a:latin typeface="Garamond" panose="02020404030301010803" pitchFamily="18" charset="0"/>
              </a:rPr>
              <a:t>Venetz</a:t>
            </a:r>
            <a:r>
              <a:rPr lang="en-CA" dirty="0">
                <a:latin typeface="Garamond" panose="02020404030301010803" pitchFamily="18" charset="0"/>
              </a:rPr>
              <a:t>, A. (2017). Is the left-right scale a valid measure of ideology? Individual-level variation in associations with “left” and “right” and left-right self-placement. </a:t>
            </a:r>
            <a:r>
              <a:rPr lang="en-CA" i="1" dirty="0">
                <a:latin typeface="Garamond" panose="02020404030301010803" pitchFamily="18" charset="0"/>
              </a:rPr>
              <a:t>Political Behavior</a:t>
            </a:r>
            <a:r>
              <a:rPr lang="en-CA" dirty="0">
                <a:latin typeface="Garamond" panose="02020404030301010803" pitchFamily="18" charset="0"/>
              </a:rPr>
              <a:t>, 39, 553-583.</a:t>
            </a:r>
            <a:endParaRPr lang="en-US" dirty="0"/>
          </a:p>
        </p:txBody>
      </p:sp>
    </p:spTree>
    <p:extLst>
      <p:ext uri="{BB962C8B-B14F-4D97-AF65-F5344CB8AC3E}">
        <p14:creationId xmlns:p14="http://schemas.microsoft.com/office/powerpoint/2010/main" val="1822571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5E6F-1983-BDEB-C4D6-4446EC256F41}"/>
              </a:ext>
            </a:extLst>
          </p:cNvPr>
          <p:cNvSpPr>
            <a:spLocks noGrp="1"/>
          </p:cNvSpPr>
          <p:nvPr>
            <p:ph type="title"/>
          </p:nvPr>
        </p:nvSpPr>
        <p:spPr/>
        <p:txBody>
          <a:bodyPr/>
          <a:lstStyle/>
          <a:p>
            <a:r>
              <a:rPr lang="en-US" dirty="0"/>
              <a:t>Find categories in text…</a:t>
            </a:r>
          </a:p>
        </p:txBody>
      </p:sp>
      <p:pic>
        <p:nvPicPr>
          <p:cNvPr id="3" name="Picture 2">
            <a:extLst>
              <a:ext uri="{FF2B5EF4-FFF2-40B4-BE49-F238E27FC236}">
                <a16:creationId xmlns:a16="http://schemas.microsoft.com/office/drawing/2014/main" id="{7F199060-25F7-DEC8-C58D-3BDC534123CA}"/>
              </a:ext>
            </a:extLst>
          </p:cNvPr>
          <p:cNvPicPr>
            <a:picLocks noChangeAspect="1"/>
          </p:cNvPicPr>
          <p:nvPr/>
        </p:nvPicPr>
        <p:blipFill>
          <a:blip r:embed="rId2"/>
          <a:stretch>
            <a:fillRect/>
          </a:stretch>
        </p:blipFill>
        <p:spPr>
          <a:xfrm>
            <a:off x="2733290" y="1623909"/>
            <a:ext cx="6725420" cy="3610182"/>
          </a:xfrm>
          <a:prstGeom prst="rect">
            <a:avLst/>
          </a:prstGeom>
        </p:spPr>
      </p:pic>
      <p:sp>
        <p:nvSpPr>
          <p:cNvPr id="4" name="TextBox 3">
            <a:extLst>
              <a:ext uri="{FF2B5EF4-FFF2-40B4-BE49-F238E27FC236}">
                <a16:creationId xmlns:a16="http://schemas.microsoft.com/office/drawing/2014/main" id="{82E2DE3C-9660-A890-D387-2CB3578FF2CE}"/>
              </a:ext>
            </a:extLst>
          </p:cNvPr>
          <p:cNvSpPr txBox="1"/>
          <p:nvPr/>
        </p:nvSpPr>
        <p:spPr>
          <a:xfrm>
            <a:off x="1016342" y="5569544"/>
            <a:ext cx="10159314" cy="646331"/>
          </a:xfrm>
          <a:prstGeom prst="rect">
            <a:avLst/>
          </a:prstGeom>
          <a:noFill/>
        </p:spPr>
        <p:txBody>
          <a:bodyPr wrap="square" rtlCol="0">
            <a:spAutoFit/>
          </a:bodyPr>
          <a:lstStyle/>
          <a:p>
            <a:r>
              <a:rPr lang="en-CA" dirty="0">
                <a:latin typeface="Garamond" panose="02020404030301010803" pitchFamily="18" charset="0"/>
              </a:rPr>
              <a:t>Di </a:t>
            </a:r>
            <a:r>
              <a:rPr lang="en-CA" dirty="0" err="1">
                <a:latin typeface="Garamond" panose="02020404030301010803" pitchFamily="18" charset="0"/>
              </a:rPr>
              <a:t>Cocco</a:t>
            </a:r>
            <a:r>
              <a:rPr lang="en-CA" dirty="0">
                <a:latin typeface="Garamond" panose="02020404030301010803" pitchFamily="18" charset="0"/>
              </a:rPr>
              <a:t>, J., &amp; </a:t>
            </a:r>
            <a:r>
              <a:rPr lang="en-CA" dirty="0" err="1">
                <a:latin typeface="Garamond" panose="02020404030301010803" pitchFamily="18" charset="0"/>
              </a:rPr>
              <a:t>Monechi</a:t>
            </a:r>
            <a:r>
              <a:rPr lang="en-CA" dirty="0">
                <a:latin typeface="Garamond" panose="02020404030301010803" pitchFamily="18" charset="0"/>
              </a:rPr>
              <a:t>, B. (2022). How populist are parties? Measuring degrees of populism in party manifestos using supervised machine learning. </a:t>
            </a:r>
            <a:r>
              <a:rPr lang="en-CA" i="1" dirty="0">
                <a:latin typeface="Garamond" panose="02020404030301010803" pitchFamily="18" charset="0"/>
              </a:rPr>
              <a:t>Political Analysis</a:t>
            </a:r>
            <a:r>
              <a:rPr lang="en-CA" dirty="0">
                <a:latin typeface="Garamond" panose="02020404030301010803" pitchFamily="18" charset="0"/>
              </a:rPr>
              <a:t>, 30(3), 311-327.</a:t>
            </a:r>
            <a:endParaRPr lang="en-US" dirty="0"/>
          </a:p>
        </p:txBody>
      </p:sp>
    </p:spTree>
    <p:extLst>
      <p:ext uri="{BB962C8B-B14F-4D97-AF65-F5344CB8AC3E}">
        <p14:creationId xmlns:p14="http://schemas.microsoft.com/office/powerpoint/2010/main" val="124236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6872-C54F-C5CA-488E-879C3EDE9721}"/>
              </a:ext>
            </a:extLst>
          </p:cNvPr>
          <p:cNvSpPr>
            <a:spLocks noGrp="1"/>
          </p:cNvSpPr>
          <p:nvPr>
            <p:ph type="title"/>
          </p:nvPr>
        </p:nvSpPr>
        <p:spPr/>
        <p:txBody>
          <a:bodyPr>
            <a:normAutofit/>
          </a:bodyPr>
          <a:lstStyle/>
          <a:p>
            <a:r>
              <a:rPr lang="en-US" sz="4400" dirty="0"/>
              <a:t>Make sense of vast number of documents…</a:t>
            </a:r>
          </a:p>
        </p:txBody>
      </p:sp>
      <p:pic>
        <p:nvPicPr>
          <p:cNvPr id="3" name="Picture 2">
            <a:extLst>
              <a:ext uri="{FF2B5EF4-FFF2-40B4-BE49-F238E27FC236}">
                <a16:creationId xmlns:a16="http://schemas.microsoft.com/office/drawing/2014/main" id="{58F1F8D5-B90E-FA13-B2D8-68A4F2A468C0}"/>
              </a:ext>
            </a:extLst>
          </p:cNvPr>
          <p:cNvPicPr>
            <a:picLocks noChangeAspect="1"/>
          </p:cNvPicPr>
          <p:nvPr/>
        </p:nvPicPr>
        <p:blipFill>
          <a:blip r:embed="rId2"/>
          <a:stretch>
            <a:fillRect/>
          </a:stretch>
        </p:blipFill>
        <p:spPr>
          <a:xfrm>
            <a:off x="4278146" y="1690688"/>
            <a:ext cx="3635708" cy="3755955"/>
          </a:xfrm>
          <a:prstGeom prst="rect">
            <a:avLst/>
          </a:prstGeom>
        </p:spPr>
      </p:pic>
      <p:sp>
        <p:nvSpPr>
          <p:cNvPr id="4" name="TextBox 3">
            <a:extLst>
              <a:ext uri="{FF2B5EF4-FFF2-40B4-BE49-F238E27FC236}">
                <a16:creationId xmlns:a16="http://schemas.microsoft.com/office/drawing/2014/main" id="{AD4D8303-9B07-80D2-F77B-BD4DBDE7C7FD}"/>
              </a:ext>
            </a:extLst>
          </p:cNvPr>
          <p:cNvSpPr txBox="1"/>
          <p:nvPr/>
        </p:nvSpPr>
        <p:spPr>
          <a:xfrm>
            <a:off x="1016342" y="5569544"/>
            <a:ext cx="10159314" cy="646331"/>
          </a:xfrm>
          <a:prstGeom prst="rect">
            <a:avLst/>
          </a:prstGeom>
          <a:noFill/>
        </p:spPr>
        <p:txBody>
          <a:bodyPr wrap="square" rtlCol="0">
            <a:spAutoFit/>
          </a:bodyPr>
          <a:lstStyle/>
          <a:p>
            <a:r>
              <a:rPr lang="en-CA" dirty="0" err="1">
                <a:latin typeface="Garamond" panose="02020404030301010803" pitchFamily="18" charset="0"/>
              </a:rPr>
              <a:t>Slapin</a:t>
            </a:r>
            <a:r>
              <a:rPr lang="en-CA" dirty="0">
                <a:latin typeface="Garamond" panose="02020404030301010803" pitchFamily="18" charset="0"/>
              </a:rPr>
              <a:t>, J. B., &amp; </a:t>
            </a:r>
            <a:r>
              <a:rPr lang="en-CA" dirty="0" err="1">
                <a:latin typeface="Garamond" panose="02020404030301010803" pitchFamily="18" charset="0"/>
              </a:rPr>
              <a:t>Proksch</a:t>
            </a:r>
            <a:r>
              <a:rPr lang="en-CA" dirty="0">
                <a:latin typeface="Garamond" panose="02020404030301010803" pitchFamily="18" charset="0"/>
              </a:rPr>
              <a:t>, S. O. (2008). A scaling model for estimating time‐series party positions from texts. </a:t>
            </a:r>
            <a:r>
              <a:rPr lang="en-CA" i="1" dirty="0">
                <a:latin typeface="Garamond" panose="02020404030301010803" pitchFamily="18" charset="0"/>
              </a:rPr>
              <a:t>American Journal of Political Science</a:t>
            </a:r>
            <a:r>
              <a:rPr lang="en-CA" dirty="0">
                <a:latin typeface="Garamond" panose="02020404030301010803" pitchFamily="18" charset="0"/>
              </a:rPr>
              <a:t>, 52(3), 705-722.</a:t>
            </a:r>
            <a:endParaRPr lang="en-US" dirty="0"/>
          </a:p>
        </p:txBody>
      </p:sp>
    </p:spTree>
    <p:extLst>
      <p:ext uri="{BB962C8B-B14F-4D97-AF65-F5344CB8AC3E}">
        <p14:creationId xmlns:p14="http://schemas.microsoft.com/office/powerpoint/2010/main" val="2310110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45C0F3-6BEA-7C15-971B-12ABFA54C1CB}"/>
              </a:ext>
            </a:extLst>
          </p:cNvPr>
          <p:cNvSpPr>
            <a:spLocks noGrp="1"/>
          </p:cNvSpPr>
          <p:nvPr>
            <p:ph type="title"/>
          </p:nvPr>
        </p:nvSpPr>
        <p:spPr/>
        <p:txBody>
          <a:bodyPr/>
          <a:lstStyle/>
          <a:p>
            <a:r>
              <a:rPr lang="en-US" dirty="0"/>
              <a:t>Where do we find all this text?</a:t>
            </a:r>
          </a:p>
        </p:txBody>
      </p:sp>
      <p:sp>
        <p:nvSpPr>
          <p:cNvPr id="4" name="Text Placeholder 3">
            <a:extLst>
              <a:ext uri="{FF2B5EF4-FFF2-40B4-BE49-F238E27FC236}">
                <a16:creationId xmlns:a16="http://schemas.microsoft.com/office/drawing/2014/main" id="{1DA29E75-BF4E-E652-6092-164DF37435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0340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B7E301-8474-C8BC-C2FF-0F4F9ECEF8C9}"/>
              </a:ext>
            </a:extLst>
          </p:cNvPr>
          <p:cNvSpPr>
            <a:spLocks noGrp="1"/>
          </p:cNvSpPr>
          <p:nvPr>
            <p:ph type="title"/>
          </p:nvPr>
        </p:nvSpPr>
        <p:spPr/>
        <p:txBody>
          <a:bodyPr/>
          <a:lstStyle/>
          <a:p>
            <a:r>
              <a:rPr lang="en-US" dirty="0"/>
              <a:t>Short answer:</a:t>
            </a:r>
          </a:p>
        </p:txBody>
      </p:sp>
      <p:sp>
        <p:nvSpPr>
          <p:cNvPr id="5" name="Content Placeholder 4">
            <a:extLst>
              <a:ext uri="{FF2B5EF4-FFF2-40B4-BE49-F238E27FC236}">
                <a16:creationId xmlns:a16="http://schemas.microsoft.com/office/drawing/2014/main" id="{DB3DDFFB-8FFA-ED31-D5F8-0991646ABA2F}"/>
              </a:ext>
            </a:extLst>
          </p:cNvPr>
          <p:cNvSpPr>
            <a:spLocks noGrp="1"/>
          </p:cNvSpPr>
          <p:nvPr>
            <p:ph idx="1"/>
          </p:nvPr>
        </p:nvSpPr>
        <p:spPr/>
        <p:txBody>
          <a:bodyPr/>
          <a:lstStyle/>
          <a:p>
            <a:endParaRPr lang="en-US" dirty="0"/>
          </a:p>
          <a:p>
            <a:endParaRPr lang="en-US" dirty="0"/>
          </a:p>
          <a:p>
            <a:endParaRPr lang="en-US" dirty="0"/>
          </a:p>
          <a:p>
            <a:r>
              <a:rPr lang="en-US" dirty="0"/>
              <a:t>The internet. </a:t>
            </a:r>
          </a:p>
        </p:txBody>
      </p:sp>
    </p:spTree>
    <p:extLst>
      <p:ext uri="{BB962C8B-B14F-4D97-AF65-F5344CB8AC3E}">
        <p14:creationId xmlns:p14="http://schemas.microsoft.com/office/powerpoint/2010/main" val="1592035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CFFD-D427-6329-2ADB-B744D131124F}"/>
              </a:ext>
            </a:extLst>
          </p:cNvPr>
          <p:cNvSpPr>
            <a:spLocks noGrp="1"/>
          </p:cNvSpPr>
          <p:nvPr>
            <p:ph type="title"/>
          </p:nvPr>
        </p:nvSpPr>
        <p:spPr/>
        <p:txBody>
          <a:bodyPr/>
          <a:lstStyle/>
          <a:p>
            <a:r>
              <a:rPr lang="en-US" dirty="0"/>
              <a:t>Long answer:</a:t>
            </a:r>
          </a:p>
        </p:txBody>
      </p:sp>
      <p:sp>
        <p:nvSpPr>
          <p:cNvPr id="3" name="Content Placeholder 2">
            <a:extLst>
              <a:ext uri="{FF2B5EF4-FFF2-40B4-BE49-F238E27FC236}">
                <a16:creationId xmlns:a16="http://schemas.microsoft.com/office/drawing/2014/main" id="{A12A0A36-8AC1-1ABB-2601-9487F3061496}"/>
              </a:ext>
            </a:extLst>
          </p:cNvPr>
          <p:cNvSpPr>
            <a:spLocks noGrp="1"/>
          </p:cNvSpPr>
          <p:nvPr>
            <p:ph idx="1"/>
          </p:nvPr>
        </p:nvSpPr>
        <p:spPr/>
        <p:txBody>
          <a:bodyPr>
            <a:normAutofit fontScale="92500"/>
          </a:bodyPr>
          <a:lstStyle/>
          <a:p>
            <a:r>
              <a:rPr lang="en-US" dirty="0"/>
              <a:t>Large-scale digitalization of records and the increasing amount of public data online make the internet a great source. </a:t>
            </a:r>
          </a:p>
          <a:p>
            <a:endParaRPr lang="en-US" dirty="0"/>
          </a:p>
          <a:p>
            <a:r>
              <a:rPr lang="en-US" dirty="0"/>
              <a:t>There are corpora from Parliamentary speeches readily available for many countries. For example:</a:t>
            </a:r>
          </a:p>
          <a:p>
            <a:pPr lvl="1"/>
            <a:r>
              <a:rPr lang="en-CA" sz="1800" b="0" i="0" u="none" strike="noStrike" dirty="0">
                <a:solidFill>
                  <a:srgbClr val="595959"/>
                </a:solidFill>
                <a:effectLst/>
                <a:latin typeface="Arial" panose="020B0604020202020204" pitchFamily="34" charset="0"/>
              </a:rPr>
              <a:t>UK: </a:t>
            </a:r>
            <a:r>
              <a:rPr lang="en-CA" sz="1800" b="0" i="0" u="sng" strike="noStrike" dirty="0">
                <a:solidFill>
                  <a:srgbClr val="0097A7"/>
                </a:solidFill>
                <a:effectLst/>
                <a:latin typeface="Arial" panose="020B0604020202020204" pitchFamily="34" charset="0"/>
                <a:hlinkClick r:id="rId2"/>
              </a:rPr>
              <a:t>https://cran.r-project.org/web/packages/hansard/index.html</a:t>
            </a:r>
            <a:endParaRPr lang="en-CA" sz="1800" dirty="0">
              <a:solidFill>
                <a:srgbClr val="595959"/>
              </a:solidFill>
              <a:latin typeface="Arial" panose="020B0604020202020204" pitchFamily="34" charset="0"/>
            </a:endParaRPr>
          </a:p>
          <a:p>
            <a:pPr lvl="1"/>
            <a:r>
              <a:rPr lang="en-CA" sz="1800" dirty="0">
                <a:solidFill>
                  <a:srgbClr val="595959"/>
                </a:solidFill>
                <a:latin typeface="Arial" panose="020B0604020202020204" pitchFamily="34" charset="0"/>
              </a:rPr>
              <a:t>Canada: </a:t>
            </a:r>
            <a:r>
              <a:rPr lang="en-CA" sz="1800" dirty="0">
                <a:solidFill>
                  <a:srgbClr val="595959"/>
                </a:solidFill>
                <a:latin typeface="Arial" panose="020B0604020202020204" pitchFamily="34" charset="0"/>
                <a:hlinkClick r:id="rId3"/>
              </a:rPr>
              <a:t>https://www.lipad.ca/</a:t>
            </a:r>
            <a:r>
              <a:rPr lang="en-CA" sz="1800" dirty="0">
                <a:solidFill>
                  <a:srgbClr val="595959"/>
                </a:solidFill>
                <a:latin typeface="Arial" panose="020B0604020202020204" pitchFamily="34" charset="0"/>
              </a:rPr>
              <a:t> </a:t>
            </a:r>
            <a:endParaRPr lang="en-US" sz="1800" dirty="0">
              <a:solidFill>
                <a:srgbClr val="595959"/>
              </a:solidFill>
              <a:latin typeface="Arial" panose="020B0604020202020204" pitchFamily="34" charset="0"/>
            </a:endParaRPr>
          </a:p>
          <a:p>
            <a:r>
              <a:rPr lang="en-US" sz="2200" dirty="0">
                <a:solidFill>
                  <a:srgbClr val="595959"/>
                </a:solidFill>
                <a:latin typeface="Arial" panose="020B0604020202020204" pitchFamily="34" charset="0"/>
              </a:rPr>
              <a:t>For other countries, there are probably corpora that are one friendly email away:</a:t>
            </a:r>
          </a:p>
          <a:p>
            <a:pPr lvl="1"/>
            <a:r>
              <a:rPr lang="en-US" sz="1800" dirty="0">
                <a:solidFill>
                  <a:srgbClr val="595959"/>
                </a:solidFill>
                <a:latin typeface="Arial" panose="020B0604020202020204" pitchFamily="34" charset="0"/>
              </a:rPr>
              <a:t>The Politics of Legislative Debates: </a:t>
            </a:r>
            <a:r>
              <a:rPr lang="en-US" sz="1800" dirty="0">
                <a:solidFill>
                  <a:srgbClr val="595959"/>
                </a:solidFill>
                <a:latin typeface="Arial" panose="020B0604020202020204" pitchFamily="34" charset="0"/>
                <a:hlinkClick r:id="rId4"/>
              </a:rPr>
              <a:t>https://global.oup.com/academic/product/the-politics-of-legislative-debates-9780198849063?cc=ca&amp;lang=en&amp;</a:t>
            </a:r>
            <a:r>
              <a:rPr lang="en-US" sz="1800" dirty="0">
                <a:solidFill>
                  <a:srgbClr val="595959"/>
                </a:solidFill>
                <a:latin typeface="Arial" panose="020B0604020202020204" pitchFamily="34" charset="0"/>
              </a:rPr>
              <a:t> </a:t>
            </a:r>
          </a:p>
        </p:txBody>
      </p:sp>
    </p:spTree>
    <p:extLst>
      <p:ext uri="{BB962C8B-B14F-4D97-AF65-F5344CB8AC3E}">
        <p14:creationId xmlns:p14="http://schemas.microsoft.com/office/powerpoint/2010/main" val="2492479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D81F-8A40-E8EE-8395-3A27AA0831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A7BF7C-1F37-CC88-2DA4-A7FD24DBEFE8}"/>
              </a:ext>
            </a:extLst>
          </p:cNvPr>
          <p:cNvSpPr>
            <a:spLocks noGrp="1"/>
          </p:cNvSpPr>
          <p:nvPr>
            <p:ph idx="1"/>
          </p:nvPr>
        </p:nvSpPr>
        <p:spPr/>
        <p:txBody>
          <a:bodyPr>
            <a:normAutofit lnSpcReduction="10000"/>
          </a:bodyPr>
          <a:lstStyle/>
          <a:p>
            <a:r>
              <a:rPr lang="en-US" dirty="0"/>
              <a:t>With the proper web-scrapping tools (Week #7), or looking in the right places, most repositories in the web can be used as corpora:</a:t>
            </a:r>
          </a:p>
          <a:p>
            <a:pPr lvl="1"/>
            <a:r>
              <a:rPr lang="en-US" dirty="0"/>
              <a:t>Wikipedia: </a:t>
            </a:r>
            <a:r>
              <a:rPr lang="en-US" dirty="0">
                <a:hlinkClick r:id="rId2"/>
              </a:rPr>
              <a:t>https://en.wikipedia.org/wiki/Wikipedia:Database_download</a:t>
            </a:r>
            <a:endParaRPr lang="en-US" dirty="0"/>
          </a:p>
          <a:p>
            <a:pPr lvl="1"/>
            <a:r>
              <a:rPr lang="en-US" dirty="0"/>
              <a:t>Project Gutenberg: </a:t>
            </a:r>
            <a:r>
              <a:rPr lang="en-CA" sz="1800" b="0" i="0" u="sng" strike="noStrike" dirty="0">
                <a:solidFill>
                  <a:srgbClr val="0097A7"/>
                </a:solidFill>
                <a:effectLst/>
                <a:latin typeface="Arial" panose="020B0604020202020204" pitchFamily="34" charset="0"/>
                <a:hlinkClick r:id="rId3"/>
              </a:rPr>
              <a:t>https://cran.r-project.org/web/packages/gutenbergr/vignettes/intro.html</a:t>
            </a:r>
            <a:r>
              <a:rPr lang="en-CA" sz="1800" b="0" i="0" u="none" strike="noStrike" dirty="0">
                <a:solidFill>
                  <a:srgbClr val="595959"/>
                </a:solidFill>
                <a:effectLst/>
                <a:latin typeface="Arial" panose="020B0604020202020204" pitchFamily="34" charset="0"/>
              </a:rPr>
              <a:t> </a:t>
            </a:r>
            <a:endParaRPr lang="en-US" dirty="0"/>
          </a:p>
          <a:p>
            <a:pPr lvl="1"/>
            <a:r>
              <a:rPr lang="en-US" dirty="0"/>
              <a:t>Internet Archive: </a:t>
            </a:r>
            <a:r>
              <a:rPr lang="en-CA" sz="1800" b="0" i="0" u="sng" strike="noStrike" dirty="0">
                <a:solidFill>
                  <a:srgbClr val="0097A7"/>
                </a:solidFill>
                <a:effectLst/>
                <a:latin typeface="Arial" panose="020B0604020202020204" pitchFamily="34" charset="0"/>
                <a:hlinkClick r:id="rId4"/>
              </a:rPr>
              <a:t>https://archive.org/details/datasets</a:t>
            </a:r>
            <a:endParaRPr lang="en-CA" sz="1800" b="0" i="0" u="none" strike="noStrike" dirty="0">
              <a:solidFill>
                <a:srgbClr val="595959"/>
              </a:solidFill>
              <a:effectLst/>
              <a:latin typeface="Arial" panose="020B0604020202020204" pitchFamily="34" charset="0"/>
            </a:endParaRPr>
          </a:p>
          <a:p>
            <a:pPr lvl="1"/>
            <a:r>
              <a:rPr lang="en-US" dirty="0"/>
              <a:t>Google Books: </a:t>
            </a:r>
            <a:r>
              <a:rPr lang="en-US" dirty="0">
                <a:hlinkClick r:id="rId5"/>
              </a:rPr>
              <a:t>http://storage.googleapis.com/books/ngrams/books/datasetsv2.html</a:t>
            </a:r>
            <a:endParaRPr lang="en-US" dirty="0"/>
          </a:p>
          <a:p>
            <a:pPr lvl="1"/>
            <a:endParaRPr lang="en-US" dirty="0"/>
          </a:p>
          <a:p>
            <a:r>
              <a:rPr lang="en-US" dirty="0"/>
              <a:t>Twitter was ripe with text data readily available for researchers before Musk, but now that well has dried out. However, there are some people who keep data downloaded from Twitter stored in big computers 🫡.</a:t>
            </a:r>
          </a:p>
          <a:p>
            <a:endParaRPr lang="en-US" dirty="0"/>
          </a:p>
        </p:txBody>
      </p:sp>
    </p:spTree>
    <p:extLst>
      <p:ext uri="{BB962C8B-B14F-4D97-AF65-F5344CB8AC3E}">
        <p14:creationId xmlns:p14="http://schemas.microsoft.com/office/powerpoint/2010/main" val="1136701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FB8A-F4CE-F3A0-446A-D940A380DD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516524-5554-FFDD-5ADB-FD5186C8FE4E}"/>
              </a:ext>
            </a:extLst>
          </p:cNvPr>
          <p:cNvSpPr>
            <a:spLocks noGrp="1"/>
          </p:cNvSpPr>
          <p:nvPr>
            <p:ph idx="1"/>
          </p:nvPr>
        </p:nvSpPr>
        <p:spPr/>
        <p:txBody>
          <a:bodyPr>
            <a:normAutofit lnSpcReduction="10000"/>
          </a:bodyPr>
          <a:lstStyle/>
          <a:p>
            <a:r>
              <a:rPr lang="en-US" dirty="0"/>
              <a:t>Another great source are the open-answered questions from surveys or transcripts from interviews. </a:t>
            </a:r>
          </a:p>
          <a:p>
            <a:endParaRPr lang="en-US" dirty="0"/>
          </a:p>
          <a:p>
            <a:r>
              <a:rPr lang="en-US" dirty="0"/>
              <a:t>You can even use transcripts from YouTube videos. </a:t>
            </a:r>
          </a:p>
          <a:p>
            <a:endParaRPr lang="en-US" dirty="0"/>
          </a:p>
          <a:p>
            <a:r>
              <a:rPr lang="en-US" dirty="0"/>
              <a:t>You can also get diligent. I obtained all the legislative speeches from the Ecuadorian Congress from 1979 to 2023, asking the Ecuadorian Congress Library to share them with me. </a:t>
            </a:r>
          </a:p>
          <a:p>
            <a:endParaRPr lang="en-US" dirty="0"/>
          </a:p>
          <a:p>
            <a:r>
              <a:rPr lang="en-US" dirty="0"/>
              <a:t>In general, a bit of creative thinking goes a long way… </a:t>
            </a:r>
            <a:r>
              <a:rPr lang="en-US" dirty="0">
                <a:solidFill>
                  <a:schemeClr val="accent4"/>
                </a:solidFill>
              </a:rPr>
              <a:t>Any other ideas in the room</a:t>
            </a:r>
            <a:r>
              <a:rPr lang="en-US" dirty="0"/>
              <a:t>?</a:t>
            </a:r>
          </a:p>
        </p:txBody>
      </p:sp>
    </p:spTree>
    <p:extLst>
      <p:ext uri="{BB962C8B-B14F-4D97-AF65-F5344CB8AC3E}">
        <p14:creationId xmlns:p14="http://schemas.microsoft.com/office/powerpoint/2010/main" val="381130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53C1-79DE-FB3B-A616-BBFB6B5AFA12}"/>
              </a:ext>
            </a:extLst>
          </p:cNvPr>
          <p:cNvSpPr>
            <a:spLocks noGrp="1"/>
          </p:cNvSpPr>
          <p:nvPr>
            <p:ph type="title"/>
          </p:nvPr>
        </p:nvSpPr>
        <p:spPr/>
        <p:txBody>
          <a:bodyPr/>
          <a:lstStyle/>
          <a:p>
            <a:r>
              <a:rPr lang="en-US" dirty="0"/>
              <a:t>Legal issues</a:t>
            </a:r>
          </a:p>
        </p:txBody>
      </p:sp>
      <p:sp>
        <p:nvSpPr>
          <p:cNvPr id="3" name="Text Placeholder 2">
            <a:extLst>
              <a:ext uri="{FF2B5EF4-FFF2-40B4-BE49-F238E27FC236}">
                <a16:creationId xmlns:a16="http://schemas.microsoft.com/office/drawing/2014/main" id="{22A1D465-3C84-CE05-D0DD-28C7836DFADD}"/>
              </a:ext>
            </a:extLst>
          </p:cNvPr>
          <p:cNvSpPr>
            <a:spLocks noGrp="1"/>
          </p:cNvSpPr>
          <p:nvPr>
            <p:ph type="body" idx="1"/>
          </p:nvPr>
        </p:nvSpPr>
        <p:spPr/>
        <p:txBody>
          <a:bodyPr>
            <a:normAutofit fontScale="70000" lnSpcReduction="20000"/>
          </a:bodyPr>
          <a:lstStyle/>
          <a:p>
            <a:r>
              <a:rPr lang="en-US" dirty="0"/>
              <a:t>(“…but the will of your class made into a law for all, a will whose essential character and direction are determined by the economical conditions of existence of your class.”)</a:t>
            </a:r>
          </a:p>
        </p:txBody>
      </p:sp>
    </p:spTree>
    <p:extLst>
      <p:ext uri="{BB962C8B-B14F-4D97-AF65-F5344CB8AC3E}">
        <p14:creationId xmlns:p14="http://schemas.microsoft.com/office/powerpoint/2010/main" val="1644526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FC0161-9527-CD72-708C-4F7F789777B3}"/>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76F375E-9CD9-433B-A5CB-E16BC57CB931}"/>
              </a:ext>
            </a:extLst>
          </p:cNvPr>
          <p:cNvSpPr>
            <a:spLocks noGrp="1"/>
          </p:cNvSpPr>
          <p:nvPr>
            <p:ph idx="1"/>
          </p:nvPr>
        </p:nvSpPr>
        <p:spPr/>
        <p:txBody>
          <a:bodyPr/>
          <a:lstStyle/>
          <a:p>
            <a:r>
              <a:rPr lang="en-US" dirty="0"/>
              <a:t>Be wary of legal issues… </a:t>
            </a:r>
          </a:p>
          <a:p>
            <a:r>
              <a:rPr lang="en-US" dirty="0"/>
              <a:t>Is content copyrighted? Does scraping infringe IP rights? </a:t>
            </a:r>
          </a:p>
          <a:p>
            <a:r>
              <a:rPr lang="en-US" dirty="0"/>
              <a:t>Are there “terms of use” or “terms of services”?</a:t>
            </a:r>
          </a:p>
          <a:p>
            <a:endParaRPr lang="en-US" dirty="0"/>
          </a:p>
          <a:p>
            <a:endParaRPr lang="en-US" dirty="0"/>
          </a:p>
          <a:p>
            <a:r>
              <a:rPr lang="en-US" dirty="0"/>
              <a:t>Remember that, most importantly, legal DOES NOT MEAN ethical. (In my book, ethical &gt;&gt; legal). </a:t>
            </a:r>
          </a:p>
          <a:p>
            <a:r>
              <a:rPr lang="en-US" dirty="0"/>
              <a:t>But you still be careful. </a:t>
            </a:r>
          </a:p>
        </p:txBody>
      </p:sp>
    </p:spTree>
    <p:extLst>
      <p:ext uri="{BB962C8B-B14F-4D97-AF65-F5344CB8AC3E}">
        <p14:creationId xmlns:p14="http://schemas.microsoft.com/office/powerpoint/2010/main" val="306841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C04EFF-F23E-B568-32EF-4BA9EED239E3}"/>
              </a:ext>
            </a:extLst>
          </p:cNvPr>
          <p:cNvSpPr>
            <a:spLocks noGrp="1"/>
          </p:cNvSpPr>
          <p:nvPr>
            <p:ph type="title"/>
          </p:nvPr>
        </p:nvSpPr>
        <p:spPr/>
        <p:txBody>
          <a:bodyPr/>
          <a:lstStyle/>
          <a:p>
            <a:r>
              <a:rPr lang="en-US" dirty="0"/>
              <a:t>Why use a computer?</a:t>
            </a:r>
          </a:p>
        </p:txBody>
      </p:sp>
      <p:sp>
        <p:nvSpPr>
          <p:cNvPr id="5" name="Text Placeholder 4">
            <a:extLst>
              <a:ext uri="{FF2B5EF4-FFF2-40B4-BE49-F238E27FC236}">
                <a16:creationId xmlns:a16="http://schemas.microsoft.com/office/drawing/2014/main" id="{5430BB29-7C79-4EBB-3507-8BB19745B84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8839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CBC260-9CA1-845D-B322-ED23D4931A64}"/>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2C44DDCC-C917-B091-8BA6-9C00DEE5FDCB}"/>
              </a:ext>
            </a:extLst>
          </p:cNvPr>
          <p:cNvSpPr>
            <a:spLocks noGrp="1"/>
          </p:cNvSpPr>
          <p:nvPr>
            <p:ph idx="1"/>
          </p:nvPr>
        </p:nvSpPr>
        <p:spPr/>
        <p:txBody>
          <a:bodyPr>
            <a:normAutofit/>
          </a:bodyPr>
          <a:lstStyle/>
          <a:p>
            <a:r>
              <a:rPr lang="en-US" dirty="0"/>
              <a:t>Humans are great at understanding and analyzing the content of texts. Computers are not.</a:t>
            </a:r>
          </a:p>
          <a:p>
            <a:endParaRPr lang="en-US" dirty="0"/>
          </a:p>
          <a:p>
            <a:r>
              <a:rPr lang="en-US" dirty="0"/>
              <a:t>Humans are also great at not being able to read thousands of documents in minutes, organize that text, classify that text, scale that text, and then produce pretty graphics from that text. Computers are not not that. (I stand by the double negative)</a:t>
            </a:r>
          </a:p>
          <a:p>
            <a:endParaRPr lang="en-US" dirty="0"/>
          </a:p>
          <a:p>
            <a:r>
              <a:rPr lang="en-US" dirty="0"/>
              <a:t>We will be learning about the latter.</a:t>
            </a:r>
          </a:p>
        </p:txBody>
      </p:sp>
    </p:spTree>
    <p:extLst>
      <p:ext uri="{BB962C8B-B14F-4D97-AF65-F5344CB8AC3E}">
        <p14:creationId xmlns:p14="http://schemas.microsoft.com/office/powerpoint/2010/main" val="2642333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CBC260-9CA1-845D-B322-ED23D4931A64}"/>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2C44DDCC-C917-B091-8BA6-9C00DEE5FDCB}"/>
              </a:ext>
            </a:extLst>
          </p:cNvPr>
          <p:cNvSpPr>
            <a:spLocks noGrp="1"/>
          </p:cNvSpPr>
          <p:nvPr>
            <p:ph idx="1"/>
          </p:nvPr>
        </p:nvSpPr>
        <p:spPr/>
        <p:txBody>
          <a:bodyPr>
            <a:normAutofit/>
          </a:bodyPr>
          <a:lstStyle/>
          <a:p>
            <a:r>
              <a:rPr lang="en-US" dirty="0"/>
              <a:t>Humans are great at understanding and analyzing the content of texts. Computers are not.</a:t>
            </a:r>
          </a:p>
          <a:p>
            <a:endParaRPr lang="en-US" dirty="0"/>
          </a:p>
          <a:p>
            <a:r>
              <a:rPr lang="en-US" dirty="0"/>
              <a:t>Humans are also great at not being able to read thousands of documents in minutes, organize that text, classify that text, scale that text, and then produce pretty graphics from that text. Computers are not not that. (I stand by the double negative)</a:t>
            </a:r>
          </a:p>
          <a:p>
            <a:endParaRPr lang="en-US" dirty="0"/>
          </a:p>
          <a:p>
            <a:r>
              <a:rPr lang="en-US" dirty="0"/>
              <a:t>We will be learning about the latter.</a:t>
            </a:r>
          </a:p>
        </p:txBody>
      </p:sp>
      <p:pic>
        <p:nvPicPr>
          <p:cNvPr id="3" name="Picture 2" descr="A red rectangular stamp with text&#10;&#10;Description automatically generated">
            <a:extLst>
              <a:ext uri="{FF2B5EF4-FFF2-40B4-BE49-F238E27FC236}">
                <a16:creationId xmlns:a16="http://schemas.microsoft.com/office/drawing/2014/main" id="{783876FE-BAEF-D53E-B450-B548CAAC6C6F}"/>
              </a:ext>
            </a:extLst>
          </p:cNvPr>
          <p:cNvPicPr>
            <a:picLocks noChangeAspect="1"/>
          </p:cNvPicPr>
          <p:nvPr/>
        </p:nvPicPr>
        <p:blipFill>
          <a:blip r:embed="rId2"/>
          <a:stretch>
            <a:fillRect/>
          </a:stretch>
        </p:blipFill>
        <p:spPr>
          <a:xfrm>
            <a:off x="1844260" y="1086564"/>
            <a:ext cx="3310836" cy="2365765"/>
          </a:xfrm>
          <a:prstGeom prst="rect">
            <a:avLst/>
          </a:prstGeom>
        </p:spPr>
      </p:pic>
      <p:grpSp>
        <p:nvGrpSpPr>
          <p:cNvPr id="8" name="Group 7">
            <a:extLst>
              <a:ext uri="{FF2B5EF4-FFF2-40B4-BE49-F238E27FC236}">
                <a16:creationId xmlns:a16="http://schemas.microsoft.com/office/drawing/2014/main" id="{E1D387E1-A009-4FCD-1736-D9D11FD26A6F}"/>
              </a:ext>
            </a:extLst>
          </p:cNvPr>
          <p:cNvGrpSpPr/>
          <p:nvPr/>
        </p:nvGrpSpPr>
        <p:grpSpPr>
          <a:xfrm>
            <a:off x="4914616" y="886717"/>
            <a:ext cx="2012040" cy="891720"/>
            <a:chOff x="4914616" y="886717"/>
            <a:chExt cx="2012040" cy="89172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67D3C285-BD08-1CCD-EC39-4239D1E1F5E4}"/>
                    </a:ext>
                  </a:extLst>
                </p14:cNvPr>
                <p14:cNvContentPartPr/>
                <p14:nvPr/>
              </p14:nvContentPartPr>
              <p14:xfrm>
                <a:off x="4914616" y="1063477"/>
                <a:ext cx="1859400" cy="714960"/>
              </p14:xfrm>
            </p:contentPart>
          </mc:Choice>
          <mc:Fallback xmlns="">
            <p:pic>
              <p:nvPicPr>
                <p:cNvPr id="6" name="Ink 5">
                  <a:extLst>
                    <a:ext uri="{FF2B5EF4-FFF2-40B4-BE49-F238E27FC236}">
                      <a16:creationId xmlns:a16="http://schemas.microsoft.com/office/drawing/2014/main" id="{67D3C285-BD08-1CCD-EC39-4239D1E1F5E4}"/>
                    </a:ext>
                  </a:extLst>
                </p:cNvPr>
                <p:cNvPicPr/>
                <p:nvPr/>
              </p:nvPicPr>
              <p:blipFill>
                <a:blip r:embed="rId4"/>
                <a:stretch>
                  <a:fillRect/>
                </a:stretch>
              </p:blipFill>
              <p:spPr>
                <a:xfrm>
                  <a:off x="4878616" y="1027837"/>
                  <a:ext cx="1931040" cy="786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7" name="Ink 6">
                  <a:extLst>
                    <a:ext uri="{FF2B5EF4-FFF2-40B4-BE49-F238E27FC236}">
                      <a16:creationId xmlns:a16="http://schemas.microsoft.com/office/drawing/2014/main" id="{E04ED5DD-F1B3-D857-DFE3-01DC58E79931}"/>
                    </a:ext>
                  </a:extLst>
                </p14:cNvPr>
                <p14:cNvContentPartPr/>
                <p14:nvPr/>
              </p14:nvContentPartPr>
              <p14:xfrm>
                <a:off x="6690856" y="886717"/>
                <a:ext cx="235800" cy="465840"/>
              </p14:xfrm>
            </p:contentPart>
          </mc:Choice>
          <mc:Fallback xmlns="">
            <p:pic>
              <p:nvPicPr>
                <p:cNvPr id="7" name="Ink 6">
                  <a:extLst>
                    <a:ext uri="{FF2B5EF4-FFF2-40B4-BE49-F238E27FC236}">
                      <a16:creationId xmlns:a16="http://schemas.microsoft.com/office/drawing/2014/main" id="{E04ED5DD-F1B3-D857-DFE3-01DC58E79931}"/>
                    </a:ext>
                  </a:extLst>
                </p:cNvPr>
                <p:cNvPicPr/>
                <p:nvPr/>
              </p:nvPicPr>
              <p:blipFill>
                <a:blip r:embed="rId6"/>
                <a:stretch>
                  <a:fillRect/>
                </a:stretch>
              </p:blipFill>
              <p:spPr>
                <a:xfrm>
                  <a:off x="6655216" y="851077"/>
                  <a:ext cx="307440" cy="537480"/>
                </a:xfrm>
                <a:prstGeom prst="rect">
                  <a:avLst/>
                </a:prstGeom>
              </p:spPr>
            </p:pic>
          </mc:Fallback>
        </mc:AlternateContent>
      </p:grpSp>
      <p:sp>
        <p:nvSpPr>
          <p:cNvPr id="9" name="TextBox 8">
            <a:extLst>
              <a:ext uri="{FF2B5EF4-FFF2-40B4-BE49-F238E27FC236}">
                <a16:creationId xmlns:a16="http://schemas.microsoft.com/office/drawing/2014/main" id="{7717848A-66FD-2978-6B89-DF7B8611D77F}"/>
              </a:ext>
            </a:extLst>
          </p:cNvPr>
          <p:cNvSpPr txBox="1"/>
          <p:nvPr/>
        </p:nvSpPr>
        <p:spPr>
          <a:xfrm>
            <a:off x="6988204" y="829717"/>
            <a:ext cx="2262158" cy="584775"/>
          </a:xfrm>
          <a:prstGeom prst="rect">
            <a:avLst/>
          </a:prstGeom>
          <a:noFill/>
        </p:spPr>
        <p:txBody>
          <a:bodyPr wrap="none" rtlCol="0">
            <a:spAutoFit/>
          </a:bodyPr>
          <a:lstStyle/>
          <a:p>
            <a:r>
              <a:rPr lang="en-US" sz="3200" dirty="0">
                <a:latin typeface="Garamond" panose="02020404030301010803" pitchFamily="18" charset="0"/>
              </a:rPr>
              <a:t>See </a:t>
            </a:r>
            <a:r>
              <a:rPr lang="en-US" sz="3200">
                <a:latin typeface="Garamond" panose="02020404030301010803" pitchFamily="18" charset="0"/>
              </a:rPr>
              <a:t>Week #9</a:t>
            </a:r>
            <a:endParaRPr lang="en-US" sz="3200" dirty="0">
              <a:latin typeface="Garamond" panose="02020404030301010803" pitchFamily="18" charset="0"/>
            </a:endParaRPr>
          </a:p>
        </p:txBody>
      </p:sp>
    </p:spTree>
    <p:extLst>
      <p:ext uri="{BB962C8B-B14F-4D97-AF65-F5344CB8AC3E}">
        <p14:creationId xmlns:p14="http://schemas.microsoft.com/office/powerpoint/2010/main" val="3351347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7248-7D95-6C9A-4D7D-AE26C17EAF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FB05CD-5F1F-547E-457D-2EB3A93BEE16}"/>
              </a:ext>
            </a:extLst>
          </p:cNvPr>
          <p:cNvSpPr>
            <a:spLocks noGrp="1"/>
          </p:cNvSpPr>
          <p:nvPr>
            <p:ph idx="1"/>
          </p:nvPr>
        </p:nvSpPr>
        <p:spPr/>
        <p:txBody>
          <a:bodyPr/>
          <a:lstStyle/>
          <a:p>
            <a:endParaRPr lang="en-US" b="1" u="sng" dirty="0"/>
          </a:p>
          <a:p>
            <a:r>
              <a:rPr lang="en-US" b="1" u="sng" dirty="0"/>
              <a:t>Note</a:t>
            </a:r>
            <a:r>
              <a:rPr lang="en-US" u="sng" dirty="0"/>
              <a:t>: Text analysis is not a field, it is a </a:t>
            </a:r>
            <a:r>
              <a:rPr lang="en-US" u="sng" dirty="0">
                <a:solidFill>
                  <a:schemeClr val="accent1"/>
                </a:solidFill>
              </a:rPr>
              <a:t>tool</a:t>
            </a:r>
            <a:r>
              <a:rPr lang="en-US" u="sng" dirty="0"/>
              <a:t>. Think about it as a regression where the data are words instead of numbers. Thus, the fanciest of text analysis techniques is no good without a well thought out, substantive, theoretically motivated question.</a:t>
            </a:r>
          </a:p>
          <a:p>
            <a:endParaRPr lang="en-US" dirty="0"/>
          </a:p>
        </p:txBody>
      </p:sp>
    </p:spTree>
    <p:extLst>
      <p:ext uri="{BB962C8B-B14F-4D97-AF65-F5344CB8AC3E}">
        <p14:creationId xmlns:p14="http://schemas.microsoft.com/office/powerpoint/2010/main" val="4192740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E423FE-1EF6-5E90-4CF7-CD3ECFA99611}"/>
              </a:ext>
            </a:extLst>
          </p:cNvPr>
          <p:cNvSpPr>
            <a:spLocks noGrp="1"/>
          </p:cNvSpPr>
          <p:nvPr>
            <p:ph type="title"/>
          </p:nvPr>
        </p:nvSpPr>
        <p:spPr/>
        <p:txBody>
          <a:bodyPr/>
          <a:lstStyle/>
          <a:p>
            <a:r>
              <a:rPr lang="en-US" dirty="0"/>
              <a:t>Basic assumptions</a:t>
            </a:r>
          </a:p>
        </p:txBody>
      </p:sp>
      <p:sp>
        <p:nvSpPr>
          <p:cNvPr id="5" name="Text Placeholder 4">
            <a:extLst>
              <a:ext uri="{FF2B5EF4-FFF2-40B4-BE49-F238E27FC236}">
                <a16:creationId xmlns:a16="http://schemas.microsoft.com/office/drawing/2014/main" id="{D3CF3B47-3190-B00A-C3EE-1E2484967CF4}"/>
              </a:ext>
            </a:extLst>
          </p:cNvPr>
          <p:cNvSpPr>
            <a:spLocks noGrp="1"/>
          </p:cNvSpPr>
          <p:nvPr>
            <p:ph type="body" idx="1"/>
          </p:nvPr>
        </p:nvSpPr>
        <p:spPr/>
        <p:txBody>
          <a:bodyPr/>
          <a:lstStyle/>
          <a:p>
            <a:r>
              <a:rPr lang="en-US" dirty="0"/>
              <a:t>(We will return to these)</a:t>
            </a:r>
          </a:p>
        </p:txBody>
      </p:sp>
    </p:spTree>
    <p:extLst>
      <p:ext uri="{BB962C8B-B14F-4D97-AF65-F5344CB8AC3E}">
        <p14:creationId xmlns:p14="http://schemas.microsoft.com/office/powerpoint/2010/main" val="1901330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6E875E-10DA-B85E-51C2-EED6E843B77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961D87C-5263-E7D6-FC57-AAB0B658C8C0}"/>
              </a:ext>
            </a:extLst>
          </p:cNvPr>
          <p:cNvSpPr>
            <a:spLocks noGrp="1"/>
          </p:cNvSpPr>
          <p:nvPr>
            <p:ph idx="1"/>
          </p:nvPr>
        </p:nvSpPr>
        <p:spPr/>
        <p:txBody>
          <a:bodyPr/>
          <a:lstStyle/>
          <a:p>
            <a:r>
              <a:rPr lang="en-US" dirty="0"/>
              <a:t>When doing quantitative text analysis, we assume:</a:t>
            </a:r>
          </a:p>
          <a:p>
            <a:pPr lvl="1"/>
            <a:r>
              <a:rPr lang="en-US" dirty="0"/>
              <a:t>That texts represent an </a:t>
            </a:r>
            <a:r>
              <a:rPr lang="en-US" dirty="0">
                <a:solidFill>
                  <a:schemeClr val="accent4"/>
                </a:solidFill>
              </a:rPr>
              <a:t>observable implication </a:t>
            </a:r>
            <a:r>
              <a:rPr lang="en-US" dirty="0"/>
              <a:t>of some </a:t>
            </a:r>
            <a:r>
              <a:rPr lang="en-US" dirty="0">
                <a:solidFill>
                  <a:schemeClr val="accent4"/>
                </a:solidFill>
              </a:rPr>
              <a:t>underlying characteristic</a:t>
            </a:r>
            <a:r>
              <a:rPr lang="en-US" dirty="0"/>
              <a:t> of interest (an attribute of the author, the subject, ...)</a:t>
            </a:r>
          </a:p>
          <a:p>
            <a:pPr lvl="1"/>
            <a:r>
              <a:rPr lang="en-US" dirty="0"/>
              <a:t>That texts can be represented through extracting their </a:t>
            </a:r>
            <a:r>
              <a:rPr lang="en-US" dirty="0">
                <a:solidFill>
                  <a:schemeClr val="accent4"/>
                </a:solidFill>
              </a:rPr>
              <a:t>features</a:t>
            </a:r>
            <a:r>
              <a:rPr lang="en-US" dirty="0"/>
              <a:t>--e.g., words--, or evaluating how these </a:t>
            </a:r>
            <a:r>
              <a:rPr lang="en-US" dirty="0">
                <a:solidFill>
                  <a:schemeClr val="accent4"/>
                </a:solidFill>
              </a:rPr>
              <a:t>features interact in context</a:t>
            </a:r>
            <a:r>
              <a:rPr lang="en-US" dirty="0"/>
              <a:t>—e.g., convolutional neural networks.</a:t>
            </a:r>
          </a:p>
          <a:p>
            <a:pPr lvl="1"/>
            <a:r>
              <a:rPr lang="en-US" dirty="0"/>
              <a:t>That we can analyze the </a:t>
            </a:r>
            <a:r>
              <a:rPr lang="en-US" dirty="0">
                <a:solidFill>
                  <a:schemeClr val="accent4"/>
                </a:solidFill>
              </a:rPr>
              <a:t>frequency of features </a:t>
            </a:r>
            <a:r>
              <a:rPr lang="en-US" dirty="0"/>
              <a:t>(as a document-feature matrix) with quantitative methods to measure these underlying characteristics, or we can analyze the interaction of these features to predict characteristics of the text.  </a:t>
            </a:r>
          </a:p>
        </p:txBody>
      </p:sp>
    </p:spTree>
    <p:extLst>
      <p:ext uri="{BB962C8B-B14F-4D97-AF65-F5344CB8AC3E}">
        <p14:creationId xmlns:p14="http://schemas.microsoft.com/office/powerpoint/2010/main" val="904987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45CD-A54F-AFE6-4374-990E3F1CB7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A048FAC-B415-BD3E-2DC3-76CEE0FCDC4F}"/>
              </a:ext>
            </a:extLst>
          </p:cNvPr>
          <p:cNvSpPr>
            <a:spLocks noGrp="1"/>
          </p:cNvSpPr>
          <p:nvPr>
            <p:ph idx="1"/>
          </p:nvPr>
        </p:nvSpPr>
        <p:spPr/>
        <p:txBody>
          <a:bodyPr/>
          <a:lstStyle/>
          <a:p>
            <a:endParaRPr lang="en-US" dirty="0"/>
          </a:p>
          <a:p>
            <a:endParaRPr lang="en-US" dirty="0"/>
          </a:p>
          <a:p>
            <a:r>
              <a:rPr lang="en-US" dirty="0"/>
              <a:t>There are two big approaches to computational text analysis:</a:t>
            </a:r>
          </a:p>
          <a:p>
            <a:pPr lvl="1"/>
            <a:r>
              <a:rPr lang="en-US" dirty="0"/>
              <a:t>Bag-of-words</a:t>
            </a:r>
          </a:p>
          <a:p>
            <a:pPr lvl="1"/>
            <a:r>
              <a:rPr lang="en-US" dirty="0"/>
              <a:t>Word embeddings </a:t>
            </a:r>
          </a:p>
        </p:txBody>
      </p:sp>
    </p:spTree>
    <p:extLst>
      <p:ext uri="{BB962C8B-B14F-4D97-AF65-F5344CB8AC3E}">
        <p14:creationId xmlns:p14="http://schemas.microsoft.com/office/powerpoint/2010/main" val="429425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56593-7BFA-E1CE-1659-B7A64478912B}"/>
              </a:ext>
            </a:extLst>
          </p:cNvPr>
          <p:cNvSpPr>
            <a:spLocks noGrp="1"/>
          </p:cNvSpPr>
          <p:nvPr>
            <p:ph type="title"/>
          </p:nvPr>
        </p:nvSpPr>
        <p:spPr/>
        <p:txBody>
          <a:bodyPr/>
          <a:lstStyle/>
          <a:p>
            <a:r>
              <a:rPr lang="en-US" dirty="0"/>
              <a:t>Bag-of-Words</a:t>
            </a:r>
          </a:p>
        </p:txBody>
      </p:sp>
      <p:pic>
        <p:nvPicPr>
          <p:cNvPr id="2050" name="Picture 2">
            <a:extLst>
              <a:ext uri="{FF2B5EF4-FFF2-40B4-BE49-F238E27FC236}">
                <a16:creationId xmlns:a16="http://schemas.microsoft.com/office/drawing/2014/main" id="{CB53C1E1-CAC5-ACF0-0543-C58EC2752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489" y="1401831"/>
            <a:ext cx="8394700" cy="482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404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AE82D-21B0-B7F3-DC14-ECB787C8164C}"/>
              </a:ext>
            </a:extLst>
          </p:cNvPr>
          <p:cNvSpPr>
            <a:spLocks noGrp="1"/>
          </p:cNvSpPr>
          <p:nvPr>
            <p:ph type="title"/>
          </p:nvPr>
        </p:nvSpPr>
        <p:spPr/>
        <p:txBody>
          <a:bodyPr/>
          <a:lstStyle/>
          <a:p>
            <a:r>
              <a:rPr lang="en-US" dirty="0"/>
              <a:t>Bag-of-Words</a:t>
            </a:r>
          </a:p>
        </p:txBody>
      </p:sp>
      <p:pic>
        <p:nvPicPr>
          <p:cNvPr id="3074" name="Picture 2">
            <a:extLst>
              <a:ext uri="{FF2B5EF4-FFF2-40B4-BE49-F238E27FC236}">
                <a16:creationId xmlns:a16="http://schemas.microsoft.com/office/drawing/2014/main" id="{331C75E5-215E-12AE-8B01-D6E776E89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346" y="1690688"/>
            <a:ext cx="9093307" cy="3936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100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256F-5699-F580-E870-35D028D438D6}"/>
              </a:ext>
            </a:extLst>
          </p:cNvPr>
          <p:cNvSpPr>
            <a:spLocks noGrp="1"/>
          </p:cNvSpPr>
          <p:nvPr>
            <p:ph type="title"/>
          </p:nvPr>
        </p:nvSpPr>
        <p:spPr/>
        <p:txBody>
          <a:bodyPr/>
          <a:lstStyle/>
          <a:p>
            <a:r>
              <a:rPr lang="en-US" dirty="0"/>
              <a:t>Word Embeddings</a:t>
            </a:r>
          </a:p>
        </p:txBody>
      </p:sp>
      <p:pic>
        <p:nvPicPr>
          <p:cNvPr id="4098" name="Picture 2" descr="word embedding">
            <a:extLst>
              <a:ext uri="{FF2B5EF4-FFF2-40B4-BE49-F238E27FC236}">
                <a16:creationId xmlns:a16="http://schemas.microsoft.com/office/drawing/2014/main" id="{290B8197-847C-3829-2078-BB48E6931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815" y="1505158"/>
            <a:ext cx="8794047" cy="4732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106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34A41F-B4EE-267D-6B50-73E14F11F826}"/>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8F05D173-2D49-A427-B8B6-245F95697E0C}"/>
              </a:ext>
            </a:extLst>
          </p:cNvPr>
          <p:cNvSpPr>
            <a:spLocks noGrp="1"/>
          </p:cNvSpPr>
          <p:nvPr>
            <p:ph idx="1"/>
          </p:nvPr>
        </p:nvSpPr>
        <p:spPr/>
        <p:txBody>
          <a:bodyPr/>
          <a:lstStyle/>
          <a:p>
            <a:r>
              <a:rPr lang="en-US" dirty="0"/>
              <a:t>In this class we will study both approaches and, most importantly, how and when we can apply them in our research. </a:t>
            </a:r>
          </a:p>
          <a:p>
            <a:endParaRPr lang="en-US" dirty="0"/>
          </a:p>
          <a:p>
            <a:r>
              <a:rPr lang="en-US" dirty="0"/>
              <a:t>Much like Marx, who began his multi-volume analysis of capitalism by studying the basic unit, the commodity, we will begin by studying “the word” or “the token”. </a:t>
            </a:r>
          </a:p>
          <a:p>
            <a:endParaRPr lang="en-US" dirty="0"/>
          </a:p>
          <a:p>
            <a:r>
              <a:rPr lang="en-US" dirty="0"/>
              <a:t>Before we leave, think about the following:</a:t>
            </a:r>
          </a:p>
        </p:txBody>
      </p:sp>
    </p:spTree>
    <p:extLst>
      <p:ext uri="{BB962C8B-B14F-4D97-AF65-F5344CB8AC3E}">
        <p14:creationId xmlns:p14="http://schemas.microsoft.com/office/powerpoint/2010/main" val="1556399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F04D-2D06-8398-C409-A370B30BBA19}"/>
              </a:ext>
            </a:extLst>
          </p:cNvPr>
          <p:cNvSpPr>
            <a:spLocks noGrp="1"/>
          </p:cNvSpPr>
          <p:nvPr>
            <p:ph type="title"/>
          </p:nvPr>
        </p:nvSpPr>
        <p:spPr/>
        <p:txBody>
          <a:bodyPr>
            <a:noAutofit/>
          </a:bodyPr>
          <a:lstStyle/>
          <a:p>
            <a:r>
              <a:rPr lang="en-US" sz="7200" dirty="0"/>
              <a:t>Four principles of automated text analysis</a:t>
            </a:r>
          </a:p>
        </p:txBody>
      </p:sp>
      <p:sp>
        <p:nvSpPr>
          <p:cNvPr id="3" name="Text Placeholder 2">
            <a:extLst>
              <a:ext uri="{FF2B5EF4-FFF2-40B4-BE49-F238E27FC236}">
                <a16:creationId xmlns:a16="http://schemas.microsoft.com/office/drawing/2014/main" id="{EAA046BB-13F4-5055-73B9-560FB64B0A4B}"/>
              </a:ext>
            </a:extLst>
          </p:cNvPr>
          <p:cNvSpPr>
            <a:spLocks noGrp="1"/>
          </p:cNvSpPr>
          <p:nvPr>
            <p:ph type="body" idx="1"/>
          </p:nvPr>
        </p:nvSpPr>
        <p:spPr/>
        <p:txBody>
          <a:bodyPr/>
          <a:lstStyle/>
          <a:p>
            <a:r>
              <a:rPr lang="en-US" dirty="0"/>
              <a:t>Grimmer and Stewart (2013)</a:t>
            </a:r>
          </a:p>
        </p:txBody>
      </p:sp>
    </p:spTree>
    <p:extLst>
      <p:ext uri="{BB962C8B-B14F-4D97-AF65-F5344CB8AC3E}">
        <p14:creationId xmlns:p14="http://schemas.microsoft.com/office/powerpoint/2010/main" val="3083513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FC005E-E4F3-CC48-BF5F-864EB0361C32}"/>
              </a:ext>
            </a:extLst>
          </p:cNvPr>
          <p:cNvSpPr>
            <a:spLocks noGrp="1"/>
          </p:cNvSpPr>
          <p:nvPr>
            <p:ph type="title"/>
          </p:nvPr>
        </p:nvSpPr>
        <p:spPr/>
        <p:txBody>
          <a:bodyPr>
            <a:normAutofit fontScale="90000"/>
          </a:bodyPr>
          <a:lstStyle/>
          <a:p>
            <a:r>
              <a:rPr lang="en-US" dirty="0"/>
              <a:t>All Quantitative Models of Language Are Wrong—But Some Are Useful</a:t>
            </a:r>
          </a:p>
        </p:txBody>
      </p:sp>
      <p:sp>
        <p:nvSpPr>
          <p:cNvPr id="5" name="Content Placeholder 4">
            <a:extLst>
              <a:ext uri="{FF2B5EF4-FFF2-40B4-BE49-F238E27FC236}">
                <a16:creationId xmlns:a16="http://schemas.microsoft.com/office/drawing/2014/main" id="{10F0CE18-EC31-57C4-7A84-4373B1FF4A90}"/>
              </a:ext>
            </a:extLst>
          </p:cNvPr>
          <p:cNvSpPr>
            <a:spLocks noGrp="1"/>
          </p:cNvSpPr>
          <p:nvPr>
            <p:ph idx="1"/>
          </p:nvPr>
        </p:nvSpPr>
        <p:spPr/>
        <p:txBody>
          <a:bodyPr/>
          <a:lstStyle/>
          <a:p>
            <a:endParaRPr lang="en-US" dirty="0"/>
          </a:p>
          <a:p>
            <a:endParaRPr lang="en-US" dirty="0"/>
          </a:p>
          <a:p>
            <a:r>
              <a:rPr lang="en-US" dirty="0"/>
              <a:t>Data generation process for text is unknown.</a:t>
            </a:r>
          </a:p>
          <a:p>
            <a:r>
              <a:rPr lang="en-US" dirty="0"/>
              <a:t>Language it too complex for computers to correctly decipher (e.g. “Time flies like an arrow. Fruit flies like a banana.”).</a:t>
            </a:r>
          </a:p>
          <a:p>
            <a:r>
              <a:rPr lang="en-US" dirty="0"/>
              <a:t>Since language is so context-specific, more complex models are rarely more useful for the analysis of texts.</a:t>
            </a:r>
          </a:p>
        </p:txBody>
      </p:sp>
    </p:spTree>
    <p:extLst>
      <p:ext uri="{BB962C8B-B14F-4D97-AF65-F5344CB8AC3E}">
        <p14:creationId xmlns:p14="http://schemas.microsoft.com/office/powerpoint/2010/main" val="4254550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4A91-B191-3D8E-CE75-2FBC14A9951F}"/>
              </a:ext>
            </a:extLst>
          </p:cNvPr>
          <p:cNvSpPr>
            <a:spLocks noGrp="1"/>
          </p:cNvSpPr>
          <p:nvPr>
            <p:ph type="title"/>
          </p:nvPr>
        </p:nvSpPr>
        <p:spPr/>
        <p:txBody>
          <a:bodyPr/>
          <a:lstStyle/>
          <a:p>
            <a:r>
              <a:rPr lang="en-US" dirty="0"/>
              <a:t>Quantitative Methods Augment Humans, Not Replace Them</a:t>
            </a:r>
          </a:p>
        </p:txBody>
      </p:sp>
      <p:sp>
        <p:nvSpPr>
          <p:cNvPr id="3" name="Content Placeholder 2">
            <a:extLst>
              <a:ext uri="{FF2B5EF4-FFF2-40B4-BE49-F238E27FC236}">
                <a16:creationId xmlns:a16="http://schemas.microsoft.com/office/drawing/2014/main" id="{1CB7E93D-548E-1D6C-8D00-20698524CAC5}"/>
              </a:ext>
            </a:extLst>
          </p:cNvPr>
          <p:cNvSpPr>
            <a:spLocks noGrp="1"/>
          </p:cNvSpPr>
          <p:nvPr>
            <p:ph idx="1"/>
          </p:nvPr>
        </p:nvSpPr>
        <p:spPr/>
        <p:txBody>
          <a:bodyPr/>
          <a:lstStyle/>
          <a:p>
            <a:endParaRPr lang="en-US" dirty="0"/>
          </a:p>
          <a:p>
            <a:endParaRPr lang="en-US" dirty="0"/>
          </a:p>
          <a:p>
            <a:r>
              <a:rPr lang="en-US" dirty="0"/>
              <a:t>You need to read the text, know the text, be the text.</a:t>
            </a:r>
          </a:p>
          <a:p>
            <a:r>
              <a:rPr lang="en-US" dirty="0"/>
              <a:t>Computers organize, direct, and suggest.</a:t>
            </a:r>
          </a:p>
          <a:p>
            <a:r>
              <a:rPr lang="en-US" dirty="0"/>
              <a:t>Humans read and interpret.</a:t>
            </a:r>
          </a:p>
        </p:txBody>
      </p:sp>
    </p:spTree>
    <p:extLst>
      <p:ext uri="{BB962C8B-B14F-4D97-AF65-F5344CB8AC3E}">
        <p14:creationId xmlns:p14="http://schemas.microsoft.com/office/powerpoint/2010/main" val="3120802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C69C8-66C4-4FEB-C354-98FB9740E59F}"/>
              </a:ext>
            </a:extLst>
          </p:cNvPr>
          <p:cNvSpPr>
            <a:spLocks noGrp="1"/>
          </p:cNvSpPr>
          <p:nvPr>
            <p:ph type="title"/>
          </p:nvPr>
        </p:nvSpPr>
        <p:spPr/>
        <p:txBody>
          <a:bodyPr/>
          <a:lstStyle/>
          <a:p>
            <a:r>
              <a:rPr lang="en-US" dirty="0"/>
              <a:t>There Is No Globally Best Method for Automated Text Analysis</a:t>
            </a:r>
          </a:p>
        </p:txBody>
      </p:sp>
      <p:sp>
        <p:nvSpPr>
          <p:cNvPr id="3" name="Content Placeholder 2">
            <a:extLst>
              <a:ext uri="{FF2B5EF4-FFF2-40B4-BE49-F238E27FC236}">
                <a16:creationId xmlns:a16="http://schemas.microsoft.com/office/drawing/2014/main" id="{17DE6584-5477-D712-8D06-873CCC8C18F7}"/>
              </a:ext>
            </a:extLst>
          </p:cNvPr>
          <p:cNvSpPr>
            <a:spLocks noGrp="1"/>
          </p:cNvSpPr>
          <p:nvPr>
            <p:ph idx="1"/>
          </p:nvPr>
        </p:nvSpPr>
        <p:spPr/>
        <p:txBody>
          <a:bodyPr/>
          <a:lstStyle/>
          <a:p>
            <a:endParaRPr lang="en-US" dirty="0"/>
          </a:p>
          <a:p>
            <a:endParaRPr lang="en-US" dirty="0"/>
          </a:p>
          <a:p>
            <a:r>
              <a:rPr lang="en-US" dirty="0"/>
              <a:t>Different needs require different methods.</a:t>
            </a:r>
          </a:p>
          <a:p>
            <a:r>
              <a:rPr lang="en-US" dirty="0"/>
              <a:t>Even when you have the same needs, the same model might not fit the data.</a:t>
            </a:r>
          </a:p>
          <a:p>
            <a:endParaRPr lang="en-US" dirty="0"/>
          </a:p>
        </p:txBody>
      </p:sp>
    </p:spTree>
    <p:extLst>
      <p:ext uri="{BB962C8B-B14F-4D97-AF65-F5344CB8AC3E}">
        <p14:creationId xmlns:p14="http://schemas.microsoft.com/office/powerpoint/2010/main" val="3215780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19F5-64B5-5BA6-0B41-41786F7FE103}"/>
              </a:ext>
            </a:extLst>
          </p:cNvPr>
          <p:cNvSpPr>
            <a:spLocks noGrp="1"/>
          </p:cNvSpPr>
          <p:nvPr>
            <p:ph type="title"/>
          </p:nvPr>
        </p:nvSpPr>
        <p:spPr/>
        <p:txBody>
          <a:bodyPr/>
          <a:lstStyle/>
          <a:p>
            <a:r>
              <a:rPr lang="en-US" dirty="0"/>
              <a:t>Validate, Validate, Validate</a:t>
            </a:r>
          </a:p>
        </p:txBody>
      </p:sp>
      <p:sp>
        <p:nvSpPr>
          <p:cNvPr id="3" name="Content Placeholder 2">
            <a:extLst>
              <a:ext uri="{FF2B5EF4-FFF2-40B4-BE49-F238E27FC236}">
                <a16:creationId xmlns:a16="http://schemas.microsoft.com/office/drawing/2014/main" id="{C6A741EF-55B4-A3DB-497F-5B20CA158630}"/>
              </a:ext>
            </a:extLst>
          </p:cNvPr>
          <p:cNvSpPr>
            <a:spLocks noGrp="1"/>
          </p:cNvSpPr>
          <p:nvPr>
            <p:ph idx="1"/>
          </p:nvPr>
        </p:nvSpPr>
        <p:spPr/>
        <p:txBody>
          <a:bodyPr/>
          <a:lstStyle/>
          <a:p>
            <a:endParaRPr lang="en-US" dirty="0"/>
          </a:p>
          <a:p>
            <a:endParaRPr lang="en-US" dirty="0"/>
          </a:p>
          <a:p>
            <a:r>
              <a:rPr lang="en-US" dirty="0"/>
              <a:t>Outputs can be misleading (or simply wrong).</a:t>
            </a:r>
          </a:p>
          <a:p>
            <a:r>
              <a:rPr lang="en-US" dirty="0"/>
              <a:t>It is incumbent upon you, the researcher, to validate the use of automated text analyses.</a:t>
            </a:r>
          </a:p>
        </p:txBody>
      </p:sp>
    </p:spTree>
    <p:extLst>
      <p:ext uri="{BB962C8B-B14F-4D97-AF65-F5344CB8AC3E}">
        <p14:creationId xmlns:p14="http://schemas.microsoft.com/office/powerpoint/2010/main" val="284152882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275</TotalTime>
  <Words>1730</Words>
  <Application>Microsoft Macintosh PowerPoint</Application>
  <PresentationFormat>Widescreen</PresentationFormat>
  <Paragraphs>129</Paragraphs>
  <Slides>35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Garamond</vt:lpstr>
      <vt:lpstr>Gill Sans MT</vt:lpstr>
      <vt:lpstr>Impact</vt:lpstr>
      <vt:lpstr>Badge</vt:lpstr>
      <vt:lpstr>Why Computational Text Analysis</vt:lpstr>
      <vt:lpstr>PowerPoint Presentation</vt:lpstr>
      <vt:lpstr>Al-Kindi (c. 9 AD) – On Deciphering Cryptographic Messages</vt:lpstr>
      <vt:lpstr>Mendenhall (1887) - The Characteristic Curves of Composition</vt:lpstr>
      <vt:lpstr>Holmes (1998) - The Evolution of Stylometry in Humanities Scholarship</vt:lpstr>
      <vt:lpstr>PowerPoint Presentation</vt:lpstr>
      <vt:lpstr>Why text?</vt:lpstr>
      <vt:lpstr>PowerPoint Presentation</vt:lpstr>
      <vt:lpstr>Track changing discourse across time…</vt:lpstr>
      <vt:lpstr>Provide context to concepts…</vt:lpstr>
      <vt:lpstr>Find categories in text…</vt:lpstr>
      <vt:lpstr>Make sense of vast number of documents…</vt:lpstr>
      <vt:lpstr>Where do we find all this text?</vt:lpstr>
      <vt:lpstr>Short answer:</vt:lpstr>
      <vt:lpstr>Long answer:</vt:lpstr>
      <vt:lpstr>PowerPoint Presentation</vt:lpstr>
      <vt:lpstr>PowerPoint Presentation</vt:lpstr>
      <vt:lpstr>Legal issues</vt:lpstr>
      <vt:lpstr>PowerPoint Presentation</vt:lpstr>
      <vt:lpstr>Why use a computer?</vt:lpstr>
      <vt:lpstr>PowerPoint Presentation</vt:lpstr>
      <vt:lpstr>PowerPoint Presentation</vt:lpstr>
      <vt:lpstr>PowerPoint Presentation</vt:lpstr>
      <vt:lpstr>Basic assumptions</vt:lpstr>
      <vt:lpstr>PowerPoint Presentation</vt:lpstr>
      <vt:lpstr>PowerPoint Presentation</vt:lpstr>
      <vt:lpstr>Bag-of-Words</vt:lpstr>
      <vt:lpstr>Bag-of-Words</vt:lpstr>
      <vt:lpstr>Word Embeddings</vt:lpstr>
      <vt:lpstr>PowerPoint Presentation</vt:lpstr>
      <vt:lpstr>Four principles of automated text analysis</vt:lpstr>
      <vt:lpstr>All Quantitative Models of Language Are Wrong—But Some Are Useful</vt:lpstr>
      <vt:lpstr>Quantitative Methods Augment Humans, Not Replace Them</vt:lpstr>
      <vt:lpstr>There Is No Globally Best Method for Automated Text Analysis</vt:lpstr>
      <vt:lpstr>Validate, Validate, Validate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Computational Text Analysis</dc:title>
  <dc:creator>Sebastian Vallejo Vera</dc:creator>
  <cp:lastModifiedBy>Sebastian Vallejo Vera</cp:lastModifiedBy>
  <cp:revision>1</cp:revision>
  <dcterms:created xsi:type="dcterms:W3CDTF">2023-12-20T19:09:07Z</dcterms:created>
  <dcterms:modified xsi:type="dcterms:W3CDTF">2026-01-08T18:22:55Z</dcterms:modified>
</cp:coreProperties>
</file>